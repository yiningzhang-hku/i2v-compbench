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A1A2E-F1AF-A1E5-5F79-4FBB235A8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9DE5CA7-B5A8-D990-2B0C-92F32033B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64ABD3-D3F8-522E-E22D-640104EE8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F419-C546-425D-9463-1F73AB56A7C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E65EFF-1AD5-A895-9907-68E27E7E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3871B4-9F6B-B157-E59D-A0AFE2662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8D8-C504-4CE3-815B-3397EA7935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20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22A07F-0516-6C3A-A526-F8F410260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A7FB12-AC5C-8B09-55A3-A70977C42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3458D5-7C77-A70A-5B18-3B4116EAD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F419-C546-425D-9463-1F73AB56A7C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39DCAB-A958-37CC-7B13-B309B462C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8E3C0F-0045-B723-8464-97DACB088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8D8-C504-4CE3-815B-3397EA7935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256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6CBB1-1352-1001-F146-AFFD7B7F5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D6F7BD-13E4-0FDB-B5E5-319692DF8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0BE38D-0237-B631-071D-5B52E6408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F419-C546-425D-9463-1F73AB56A7C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FFCEB8-9B10-DBF5-4214-BCACBB7B9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F68A94-4AF3-2420-E460-8CA6464EB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8D8-C504-4CE3-815B-3397EA7935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56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824FA-E237-35BC-05BE-56A662AD9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DD668A-D7D0-0AF4-BD1D-BA003BAC4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52BA19-F799-51B5-50AF-FA795B893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6ED1E4-7434-A67B-C044-5C1196922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F419-C546-425D-9463-1F73AB56A7C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68D0E2-9E5F-21E9-4E9F-324476CE4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73EA9B-B6CA-4542-F44D-12553ED66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8D8-C504-4CE3-815B-3397EA7935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944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85B3DA-BB08-9376-CF79-DCAE9E1A4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CB0E06-E6B0-EA13-D9DA-A38ADEE5E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E4A9FB-E523-C270-08C5-C3E1875AD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CE3EDF-9CB9-0C91-454D-81F5A80AB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63725A-C481-E14E-38BB-62D47BB086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75544B2-F631-073B-1D52-405B10755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F419-C546-425D-9463-1F73AB56A7C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8147D-6634-3B64-505E-8537A3F1C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EE71001-6FDD-CF72-D19E-1EA5AFD59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8D8-C504-4CE3-815B-3397EA7935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555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B1320A-6B77-AAF9-CE4B-20033CDEF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4B3774-E2BE-F588-CE5F-0DCE6C804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F419-C546-425D-9463-1F73AB56A7C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8C7606-82C8-CA4A-CE1B-3F922DEA3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F26BC8-4683-2F21-904D-474325F51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8D8-C504-4CE3-815B-3397EA7935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600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30FA1A2-CA4D-8049-1E11-D60F616D8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F419-C546-425D-9463-1F73AB56A7C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FCB85D-6863-1A57-0AAA-63EC82216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8B9578-1568-1A85-AEF4-D7B106CF5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8D8-C504-4CE3-815B-3397EA7935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66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7267E1-3047-8DA9-0AFC-2F8937447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F6FD91-4C81-E4C1-0518-AE9E55706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141957-A865-F997-B658-19F846DFB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B4FFC8-9180-D097-F312-249FF65BB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F419-C546-425D-9463-1F73AB56A7C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8DC873-A14B-49B2-C7F8-E8DB1F1B1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0D1B9D-5B00-F047-8B93-6748CD48C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8D8-C504-4CE3-815B-3397EA7935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774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0D71E5-2B1F-1E67-B111-B857ACBFA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403362-F4B9-3A7B-C4D9-9976511A2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9C28FB-3CAF-F957-AAB5-348E122D9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03AB3D-421E-B017-D5E6-E48EC22A1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F419-C546-425D-9463-1F73AB56A7C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44370B-B0FF-9741-CBFF-43028B750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DF0B42-4E61-537F-4ADA-06A5AB469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8D8-C504-4CE3-815B-3397EA7935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123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B9554-5EA9-D0DF-F99E-97651B25D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C7270F-8ADC-55E3-5BED-D9475B79E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9A5D1D-5389-B32A-8B70-44B1668DF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F419-C546-425D-9463-1F73AB56A7C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F1210D-00A5-838E-2525-4833470B7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42CD7C-15DC-FF23-BE22-440E1ED93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8D8-C504-4CE3-815B-3397EA7935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597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6BCCC8C-C878-E9B2-4D4A-007CDD4240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30B5FC-C85F-DF46-381A-159E948A1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0BDA12-BC16-AF7A-8C52-9513CAE14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BF419-C546-425D-9463-1F73AB56A7C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A7245C-FB5E-C49E-9887-34E6EE52E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C50A8E-6E5A-F081-B2C7-FE73A550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8D8-C504-4CE3-815B-3397EA7935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39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EC2BD32-6E67-84B7-87B3-7696B68D5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7CBC98-D920-3588-F8C0-CF4D69D64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4228E4-15A6-D2FC-A515-47F823830C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BF419-C546-425D-9463-1F73AB56A7C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F514E0-084F-0CC5-569C-ACF1103BB4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BDF647-59DD-1691-A282-4BEEF34968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FE8D8-C504-4CE3-815B-3397EA7935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522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219372B-16D4-093E-1E24-9E97B4452E5D}"/>
              </a:ext>
            </a:extLst>
          </p:cNvPr>
          <p:cNvSpPr txBox="1"/>
          <p:nvPr/>
        </p:nvSpPr>
        <p:spPr>
          <a:xfrm>
            <a:off x="609600" y="685800"/>
            <a:ext cx="6477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3000" b="1">
                <a:solidFill>
                  <a:srgbClr val="FFFFFF"/>
                </a:solidFill>
                <a:latin typeface="Aptos" panose="020B0004020202020204" pitchFamily="34" charset="0"/>
              </a:rPr>
              <a:t>Benchmark Dataset Construction for Compositional Image-to-Video Generation</a:t>
            </a:r>
            <a:endParaRPr lang="zh-CN" altLang="en-US" sz="30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B4C714-006C-2153-97ED-638E3B26E25A}"/>
              </a:ext>
            </a:extLst>
          </p:cNvPr>
          <p:cNvSpPr txBox="1"/>
          <p:nvPr/>
        </p:nvSpPr>
        <p:spPr>
          <a:xfrm>
            <a:off x="635000" y="2311400"/>
            <a:ext cx="5461000" cy="38100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b="1">
                <a:solidFill>
                  <a:srgbClr val="F2C14E"/>
                </a:solidFill>
                <a:latin typeface="Aptos" panose="020B0004020202020204" pitchFamily="34" charset="0"/>
              </a:rPr>
              <a:t>Midterm Progress Report</a:t>
            </a:r>
            <a:endParaRPr lang="zh-CN" altLang="en-US" b="1">
              <a:solidFill>
                <a:srgbClr val="F2C14E"/>
              </a:solidFill>
              <a:latin typeface="Aptos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AA395E-A45C-0DDB-D0B1-485BC2B5B009}"/>
              </a:ext>
            </a:extLst>
          </p:cNvPr>
          <p:cNvSpPr txBox="1"/>
          <p:nvPr/>
        </p:nvSpPr>
        <p:spPr>
          <a:xfrm>
            <a:off x="635000" y="2959100"/>
            <a:ext cx="4572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400">
                <a:solidFill>
                  <a:srgbClr val="E5EAF0"/>
                </a:solidFill>
                <a:latin typeface="Aptos" panose="020B0004020202020204" pitchFamily="34" charset="0"/>
              </a:rPr>
              <a:t>[Name]
[University / Lab] · 2026</a:t>
            </a:r>
            <a:endParaRPr lang="zh-CN" altLang="en-US" sz="1400">
              <a:solidFill>
                <a:srgbClr val="E5EAF0"/>
              </a:solidFill>
              <a:latin typeface="Aptos" panose="020B00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CFE6B2-2E8F-3F72-E8F4-069047295FD3}"/>
              </a:ext>
            </a:extLst>
          </p:cNvPr>
          <p:cNvSpPr/>
          <p:nvPr/>
        </p:nvSpPr>
        <p:spPr>
          <a:xfrm>
            <a:off x="7493000" y="736600"/>
            <a:ext cx="4064000" cy="42545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E5D144-AE8B-CD55-80A2-66434FE210A6}"/>
              </a:ext>
            </a:extLst>
          </p:cNvPr>
          <p:cNvSpPr txBox="1"/>
          <p:nvPr/>
        </p:nvSpPr>
        <p:spPr>
          <a:xfrm>
            <a:off x="7620000" y="863600"/>
            <a:ext cx="3810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64748B"/>
                </a:solidFill>
                <a:latin typeface="Aptos" panose="020B0004020202020204" pitchFamily="34" charset="0"/>
              </a:rPr>
              <a:t>IMAGE PLACEHOLDER</a:t>
            </a:r>
            <a:endParaRPr lang="zh-CN" altLang="en-US" sz="11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36902A-F9ED-330D-C46C-1AB814EF7939}"/>
              </a:ext>
            </a:extLst>
          </p:cNvPr>
          <p:cNvSpPr txBox="1"/>
          <p:nvPr/>
        </p:nvSpPr>
        <p:spPr>
          <a:xfrm>
            <a:off x="7670800" y="2635250"/>
            <a:ext cx="37084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64748B"/>
                </a:solidFill>
                <a:latin typeface="Aptos" panose="020B0004020202020204" pitchFamily="34" charset="0"/>
              </a:rPr>
              <a:t>Insert I2V cover example</a:t>
            </a:r>
            <a:endParaRPr lang="zh-CN" altLang="en-US" sz="15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E7D346-DCBA-89DA-A543-545F18E6B55A}"/>
              </a:ext>
            </a:extLst>
          </p:cNvPr>
          <p:cNvSpPr txBox="1"/>
          <p:nvPr/>
        </p:nvSpPr>
        <p:spPr>
          <a:xfrm>
            <a:off x="7645400" y="4610100"/>
            <a:ext cx="3759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>
                <a:solidFill>
                  <a:srgbClr val="64748B"/>
                </a:solidFill>
                <a:latin typeface="Aptos" panose="020B0004020202020204" pitchFamily="34" charset="0"/>
              </a:rPr>
              <a:t>Suggested: input image → generated frame sequence</a:t>
            </a:r>
            <a:endParaRPr lang="zh-CN" altLang="en-US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127613D-89D4-683E-61C3-012A2B1EF6A5}"/>
              </a:ext>
            </a:extLst>
          </p:cNvPr>
          <p:cNvCxnSpPr/>
          <p:nvPr/>
        </p:nvCxnSpPr>
        <p:spPr>
          <a:xfrm>
            <a:off x="635000" y="5334000"/>
            <a:ext cx="10922000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0A0E422-371E-DB13-D0EE-10C16713D2D5}"/>
              </a:ext>
            </a:extLst>
          </p:cNvPr>
          <p:cNvSpPr txBox="1"/>
          <p:nvPr/>
        </p:nvSpPr>
        <p:spPr>
          <a:xfrm>
            <a:off x="635000" y="5613400"/>
            <a:ext cx="10922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00A7B5"/>
                </a:solidFill>
                <a:latin typeface="Aptos" panose="020B0004020202020204" pitchFamily="34" charset="0"/>
              </a:rPr>
              <a:t>I2V  ·  COMPOSITIONAL EVALUATION  ·  DATA QUALITY  ·  VALIDATION</a:t>
            </a:r>
            <a:endParaRPr lang="zh-CN" altLang="en-US" sz="1100" b="1">
              <a:solidFill>
                <a:srgbClr val="00A7B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312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22C65BC-3372-B52C-8AB8-9297590A163C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4213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4213D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089E72-2785-BD5E-014F-C8D4C70D170E}"/>
              </a:ext>
            </a:extLst>
          </p:cNvPr>
          <p:cNvSpPr txBox="1"/>
          <p:nvPr/>
        </p:nvSpPr>
        <p:spPr>
          <a:xfrm>
            <a:off x="406400" y="127000"/>
            <a:ext cx="9652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500" b="1">
                <a:solidFill>
                  <a:srgbClr val="FFFFFF"/>
                </a:solidFill>
                <a:latin typeface="Aptos" panose="020B0004020202020204" pitchFamily="34" charset="0"/>
              </a:rPr>
              <a:t>Why Narrow Long-Video Benchmark to I2V?</a:t>
            </a:r>
            <a:endParaRPr lang="zh-CN" altLang="en-US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6FBDF7-B6E5-C29B-1753-41A2D0849608}"/>
              </a:ext>
            </a:extLst>
          </p:cNvPr>
          <p:cNvSpPr txBox="1"/>
          <p:nvPr/>
        </p:nvSpPr>
        <p:spPr>
          <a:xfrm>
            <a:off x="10096500" y="165100"/>
            <a:ext cx="1333500" cy="9233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E5EAF0"/>
                </a:solidFill>
                <a:latin typeface="Aptos" panose="020B0004020202020204" pitchFamily="34" charset="0"/>
              </a:rPr>
              <a:t>MIDTERM PROGRESS REPORT</a:t>
            </a:r>
            <a:endParaRPr lang="zh-CN" altLang="en-US" sz="800" b="1">
              <a:solidFill>
                <a:srgbClr val="E5EAF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020A5B-91A8-686D-0496-A7EDBF4E5FA9}"/>
              </a:ext>
            </a:extLst>
          </p:cNvPr>
          <p:cNvSpPr txBox="1"/>
          <p:nvPr/>
        </p:nvSpPr>
        <p:spPr>
          <a:xfrm>
            <a:off x="11493500" y="177800"/>
            <a:ext cx="355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2C14E"/>
                </a:solidFill>
                <a:latin typeface="Aptos" panose="020B0004020202020204" pitchFamily="34" charset="0"/>
              </a:rPr>
              <a:t>2</a:t>
            </a:r>
            <a:endParaRPr lang="zh-CN" altLang="en-US" sz="1300" b="1">
              <a:solidFill>
                <a:srgbClr val="F2C14E"/>
              </a:solidFill>
              <a:latin typeface="Aptos" panose="020B00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073B6D7-0E7C-11C7-31C5-11CA63608C4E}"/>
              </a:ext>
            </a:extLst>
          </p:cNvPr>
          <p:cNvCxnSpPr/>
          <p:nvPr/>
        </p:nvCxnSpPr>
        <p:spPr>
          <a:xfrm>
            <a:off x="381000" y="6502400"/>
            <a:ext cx="11430000" cy="0"/>
          </a:xfrm>
          <a:prstGeom prst="line">
            <a:avLst/>
          </a:prstGeom>
          <a:ln w="889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FCBBBB7-DCB1-778E-6BD7-68EFFD35EDF3}"/>
              </a:ext>
            </a:extLst>
          </p:cNvPr>
          <p:cNvSpPr txBox="1"/>
          <p:nvPr/>
        </p:nvSpPr>
        <p:spPr>
          <a:xfrm>
            <a:off x="406400" y="6553200"/>
            <a:ext cx="5334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800">
                <a:solidFill>
                  <a:srgbClr val="64748B"/>
                </a:solidFill>
                <a:latin typeface="Aptos" panose="020B0004020202020204" pitchFamily="34" charset="0"/>
              </a:rPr>
              <a:t>I2V-CompBench · Candidate benchmark under validation</a:t>
            </a:r>
            <a:endParaRPr lang="zh-CN" altLang="en-US" sz="8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33331C-517A-FA63-53CC-16E8CFDAD254}"/>
              </a:ext>
            </a:extLst>
          </p:cNvPr>
          <p:cNvSpPr txBox="1"/>
          <p:nvPr/>
        </p:nvSpPr>
        <p:spPr>
          <a:xfrm>
            <a:off x="431800" y="927100"/>
            <a:ext cx="113284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3A5F"/>
                </a:solidFill>
                <a:latin typeface="Aptos" panose="020B0004020202020204" pitchFamily="34" charset="0"/>
              </a:rPr>
              <a:t>A common extension route repeatedly solves a short-horizon conditional generation problem.</a:t>
            </a:r>
            <a:endParaRPr lang="zh-CN" altLang="en-US" sz="1500" b="1">
              <a:solidFill>
                <a:srgbClr val="1F3A5F"/>
              </a:solidFill>
              <a:latin typeface="Aptos" panose="020B00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C860804-1484-AE8A-1460-52899AB2FD03}"/>
              </a:ext>
            </a:extLst>
          </p:cNvPr>
          <p:cNvSpPr/>
          <p:nvPr/>
        </p:nvSpPr>
        <p:spPr>
          <a:xfrm>
            <a:off x="609600" y="1714500"/>
            <a:ext cx="2032000" cy="1206500"/>
          </a:xfrm>
          <a:prstGeom prst="roundRect">
            <a:avLst/>
          </a:prstGeom>
          <a:solidFill>
            <a:srgbClr val="EAF1FF"/>
          </a:solidFill>
          <a:ln w="1651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407A9C-757B-3E90-364D-4508D1016B8F}"/>
              </a:ext>
            </a:extLst>
          </p:cNvPr>
          <p:cNvSpPr txBox="1"/>
          <p:nvPr/>
        </p:nvSpPr>
        <p:spPr>
          <a:xfrm>
            <a:off x="762000" y="1943100"/>
            <a:ext cx="17272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14213D"/>
                </a:solidFill>
                <a:latin typeface="Aptos" panose="020B0004020202020204" pitchFamily="34" charset="0"/>
              </a:rPr>
              <a:t>Short clip 1</a:t>
            </a:r>
            <a:endParaRPr lang="zh-CN" altLang="en-US" sz="16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E11573-DAA9-587F-88A5-C2811D3A9C00}"/>
              </a:ext>
            </a:extLst>
          </p:cNvPr>
          <p:cNvSpPr txBox="1"/>
          <p:nvPr/>
        </p:nvSpPr>
        <p:spPr>
          <a:xfrm>
            <a:off x="762000" y="2374900"/>
            <a:ext cx="1727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short-horizon rollout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B95A6E5-2CD0-A0E2-D060-AFB65C594922}"/>
              </a:ext>
            </a:extLst>
          </p:cNvPr>
          <p:cNvCxnSpPr/>
          <p:nvPr/>
        </p:nvCxnSpPr>
        <p:spPr>
          <a:xfrm>
            <a:off x="2667000" y="2311400"/>
            <a:ext cx="609600" cy="0"/>
          </a:xfrm>
          <a:prstGeom prst="line">
            <a:avLst/>
          </a:prstGeom>
          <a:ln w="38100">
            <a:solidFill>
              <a:srgbClr val="F28C2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CEA9AEDF-C46D-2958-DF72-7F472346039F}"/>
              </a:ext>
            </a:extLst>
          </p:cNvPr>
          <p:cNvSpPr txBox="1"/>
          <p:nvPr/>
        </p:nvSpPr>
        <p:spPr>
          <a:xfrm>
            <a:off x="2565400" y="1460500"/>
            <a:ext cx="863600" cy="175432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 b="1">
                <a:solidFill>
                  <a:srgbClr val="F28C28"/>
                </a:solidFill>
                <a:latin typeface="Aptos" panose="020B0004020202020204" pitchFamily="34" charset="0"/>
              </a:rPr>
              <a:t>tail frame(s)
+ prompt</a:t>
            </a:r>
            <a:endParaRPr lang="zh-CN" altLang="en-US" sz="900" b="1">
              <a:solidFill>
                <a:srgbClr val="F28C28"/>
              </a:solidFill>
              <a:latin typeface="Aptos" panose="020B0004020202020204" pitchFamily="34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DD1B4EE-AB53-F158-FC58-A2BF98BD5D6F}"/>
              </a:ext>
            </a:extLst>
          </p:cNvPr>
          <p:cNvSpPr/>
          <p:nvPr/>
        </p:nvSpPr>
        <p:spPr>
          <a:xfrm>
            <a:off x="3378200" y="1714500"/>
            <a:ext cx="2032000" cy="1206500"/>
          </a:xfrm>
          <a:prstGeom prst="roundRect">
            <a:avLst/>
          </a:prstGeom>
          <a:solidFill>
            <a:srgbClr val="EAF1FF"/>
          </a:solidFill>
          <a:ln w="1651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A78A-7285-427D-FCF5-5D5452831ED7}"/>
              </a:ext>
            </a:extLst>
          </p:cNvPr>
          <p:cNvSpPr txBox="1"/>
          <p:nvPr/>
        </p:nvSpPr>
        <p:spPr>
          <a:xfrm>
            <a:off x="3530600" y="1943100"/>
            <a:ext cx="17272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14213D"/>
                </a:solidFill>
                <a:latin typeface="Aptos" panose="020B0004020202020204" pitchFamily="34" charset="0"/>
              </a:rPr>
              <a:t>Short clip 2</a:t>
            </a:r>
            <a:endParaRPr lang="zh-CN" altLang="en-US" sz="16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E9676B4-A7B1-A22E-9E52-305F91399A3C}"/>
              </a:ext>
            </a:extLst>
          </p:cNvPr>
          <p:cNvSpPr txBox="1"/>
          <p:nvPr/>
        </p:nvSpPr>
        <p:spPr>
          <a:xfrm>
            <a:off x="3530600" y="2374900"/>
            <a:ext cx="1727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short-horizon rollout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732900E-1ADE-D123-6209-05F3A8A362EE}"/>
              </a:ext>
            </a:extLst>
          </p:cNvPr>
          <p:cNvCxnSpPr/>
          <p:nvPr/>
        </p:nvCxnSpPr>
        <p:spPr>
          <a:xfrm>
            <a:off x="5435600" y="2311400"/>
            <a:ext cx="609600" cy="0"/>
          </a:xfrm>
          <a:prstGeom prst="line">
            <a:avLst/>
          </a:prstGeom>
          <a:ln w="38100">
            <a:solidFill>
              <a:srgbClr val="F28C2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F322EEA-DA8E-6BC2-254C-D046B6240810}"/>
              </a:ext>
            </a:extLst>
          </p:cNvPr>
          <p:cNvSpPr txBox="1"/>
          <p:nvPr/>
        </p:nvSpPr>
        <p:spPr>
          <a:xfrm>
            <a:off x="5334000" y="1460500"/>
            <a:ext cx="863600" cy="175432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 b="1">
                <a:solidFill>
                  <a:srgbClr val="F28C28"/>
                </a:solidFill>
                <a:latin typeface="Aptos" panose="020B0004020202020204" pitchFamily="34" charset="0"/>
              </a:rPr>
              <a:t>tail frame(s)
+ prompt</a:t>
            </a:r>
            <a:endParaRPr lang="zh-CN" altLang="en-US" sz="900" b="1">
              <a:solidFill>
                <a:srgbClr val="F28C28"/>
              </a:solidFill>
              <a:latin typeface="Aptos" panose="020B0004020202020204" pitchFamily="34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41AE658-0319-980C-49FF-EE822CDEF7B0}"/>
              </a:ext>
            </a:extLst>
          </p:cNvPr>
          <p:cNvSpPr/>
          <p:nvPr/>
        </p:nvSpPr>
        <p:spPr>
          <a:xfrm>
            <a:off x="6146800" y="1714500"/>
            <a:ext cx="2032000" cy="1206500"/>
          </a:xfrm>
          <a:prstGeom prst="roundRect">
            <a:avLst/>
          </a:prstGeom>
          <a:solidFill>
            <a:srgbClr val="EAF1FF"/>
          </a:solidFill>
          <a:ln w="1651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D2E5C01-7C3F-5276-862D-E5D53B06D019}"/>
              </a:ext>
            </a:extLst>
          </p:cNvPr>
          <p:cNvSpPr txBox="1"/>
          <p:nvPr/>
        </p:nvSpPr>
        <p:spPr>
          <a:xfrm>
            <a:off x="6299200" y="1943100"/>
            <a:ext cx="17272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14213D"/>
                </a:solidFill>
                <a:latin typeface="Aptos" panose="020B0004020202020204" pitchFamily="34" charset="0"/>
              </a:rPr>
              <a:t>Short clip 3</a:t>
            </a:r>
            <a:endParaRPr lang="zh-CN" altLang="en-US" sz="16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95B513-C7F4-2C16-A847-7E9049CC046B}"/>
              </a:ext>
            </a:extLst>
          </p:cNvPr>
          <p:cNvSpPr txBox="1"/>
          <p:nvPr/>
        </p:nvSpPr>
        <p:spPr>
          <a:xfrm>
            <a:off x="6299200" y="2374900"/>
            <a:ext cx="1727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short-horizon rollout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6A07D77-E938-9E7C-6781-F685E8E79ABA}"/>
              </a:ext>
            </a:extLst>
          </p:cNvPr>
          <p:cNvCxnSpPr/>
          <p:nvPr/>
        </p:nvCxnSpPr>
        <p:spPr>
          <a:xfrm>
            <a:off x="8204200" y="2311400"/>
            <a:ext cx="609600" cy="0"/>
          </a:xfrm>
          <a:prstGeom prst="line">
            <a:avLst/>
          </a:prstGeom>
          <a:ln w="38100">
            <a:solidFill>
              <a:srgbClr val="F28C2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6D0135A9-356B-82BE-2A80-EDD0AE7F7634}"/>
              </a:ext>
            </a:extLst>
          </p:cNvPr>
          <p:cNvSpPr txBox="1"/>
          <p:nvPr/>
        </p:nvSpPr>
        <p:spPr>
          <a:xfrm>
            <a:off x="8102600" y="1460500"/>
            <a:ext cx="863600" cy="175432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 b="1">
                <a:solidFill>
                  <a:srgbClr val="F28C28"/>
                </a:solidFill>
                <a:latin typeface="Aptos" panose="020B0004020202020204" pitchFamily="34" charset="0"/>
              </a:rPr>
              <a:t>tail frame(s)
+ prompt</a:t>
            </a:r>
            <a:endParaRPr lang="zh-CN" altLang="en-US" sz="900" b="1">
              <a:solidFill>
                <a:srgbClr val="F28C28"/>
              </a:solidFill>
              <a:latin typeface="Aptos" panose="020B0004020202020204" pitchFamily="34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867C089-83A0-23BE-C5E8-D0B14308E5B4}"/>
              </a:ext>
            </a:extLst>
          </p:cNvPr>
          <p:cNvSpPr/>
          <p:nvPr/>
        </p:nvSpPr>
        <p:spPr>
          <a:xfrm>
            <a:off x="8915400" y="1714500"/>
            <a:ext cx="2032000" cy="1206500"/>
          </a:xfrm>
          <a:prstGeom prst="roundRect">
            <a:avLst/>
          </a:prstGeom>
          <a:solidFill>
            <a:srgbClr val="EAF1FF"/>
          </a:solidFill>
          <a:ln w="1651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14D53B5-005D-A2EE-42B6-970B37EFF37E}"/>
              </a:ext>
            </a:extLst>
          </p:cNvPr>
          <p:cNvSpPr txBox="1"/>
          <p:nvPr/>
        </p:nvSpPr>
        <p:spPr>
          <a:xfrm>
            <a:off x="9067800" y="1943100"/>
            <a:ext cx="17272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14213D"/>
                </a:solidFill>
                <a:latin typeface="Aptos" panose="020B0004020202020204" pitchFamily="34" charset="0"/>
              </a:rPr>
              <a:t>Short clip 4</a:t>
            </a:r>
            <a:endParaRPr lang="zh-CN" altLang="en-US" sz="16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7F8F016-504F-8F8D-3FC0-46B3A480128D}"/>
              </a:ext>
            </a:extLst>
          </p:cNvPr>
          <p:cNvSpPr txBox="1"/>
          <p:nvPr/>
        </p:nvSpPr>
        <p:spPr>
          <a:xfrm>
            <a:off x="9067800" y="2374900"/>
            <a:ext cx="1727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short-horizon rollout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A2A6DC-AD71-58C5-57B2-3BDC6C54D9BA}"/>
              </a:ext>
            </a:extLst>
          </p:cNvPr>
          <p:cNvSpPr txBox="1"/>
          <p:nvPr/>
        </p:nvSpPr>
        <p:spPr>
          <a:xfrm>
            <a:off x="609600" y="3124200"/>
            <a:ext cx="10337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2F6BFF"/>
                </a:solidFill>
                <a:latin typeface="Aptos" panose="020B0004020202020204" pitchFamily="34" charset="0"/>
              </a:rPr>
              <a:t>StreamingT2V · ViD-GPT · Ca2-VDM · STIV</a:t>
            </a:r>
            <a:endParaRPr lang="zh-CN" altLang="en-US" sz="1100" b="1">
              <a:solidFill>
                <a:srgbClr val="2F6BFF"/>
              </a:solidFill>
              <a:latin typeface="Aptos" panose="020B0004020202020204" pitchFamily="34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5FEED5A-B909-1A5F-07D8-C6390C8B0A77}"/>
              </a:ext>
            </a:extLst>
          </p:cNvPr>
          <p:cNvSpPr/>
          <p:nvPr/>
        </p:nvSpPr>
        <p:spPr>
          <a:xfrm>
            <a:off x="609600" y="3606800"/>
            <a:ext cx="3403600" cy="1803400"/>
          </a:xfrm>
          <a:prstGeom prst="roundRect">
            <a:avLst/>
          </a:prstGeom>
          <a:solidFill>
            <a:srgbClr val="E7F8FA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2A3E7AB-7B00-88BA-44FC-FD0B59394C39}"/>
              </a:ext>
            </a:extLst>
          </p:cNvPr>
          <p:cNvSpPr/>
          <p:nvPr/>
        </p:nvSpPr>
        <p:spPr>
          <a:xfrm>
            <a:off x="609600" y="3606800"/>
            <a:ext cx="76200" cy="1803400"/>
          </a:xfrm>
          <a:prstGeom prst="rect">
            <a:avLst/>
          </a:prstGeom>
          <a:solidFill>
            <a:srgbClr val="00A7B5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0A7B5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A42DF8B-B9DD-5CF7-D09F-6142992D2361}"/>
              </a:ext>
            </a:extLst>
          </p:cNvPr>
          <p:cNvSpPr txBox="1"/>
          <p:nvPr/>
        </p:nvSpPr>
        <p:spPr>
          <a:xfrm>
            <a:off x="838200" y="3759200"/>
            <a:ext cx="3022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Why I2V matters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F2685F9-A1F0-9221-31E2-98DCD210C851}"/>
              </a:ext>
            </a:extLst>
          </p:cNvPr>
          <p:cNvSpPr txBox="1"/>
          <p:nvPr/>
        </p:nvSpPr>
        <p:spPr>
          <a:xfrm>
            <a:off x="838200" y="4165600"/>
            <a:ext cx="3022600" cy="14773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Each rollout includes a local visual-state transition. Identity drift, wrong action binding, and camera-motion confusion can propagate.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8B07BC6-FC39-23A9-0E0D-4E5ACEDA1BD1}"/>
              </a:ext>
            </a:extLst>
          </p:cNvPr>
          <p:cNvSpPr/>
          <p:nvPr/>
        </p:nvSpPr>
        <p:spPr>
          <a:xfrm>
            <a:off x="4394200" y="3606800"/>
            <a:ext cx="3403600" cy="1803400"/>
          </a:xfrm>
          <a:prstGeom prst="roundRect">
            <a:avLst/>
          </a:prstGeom>
          <a:solidFill>
            <a:srgbClr val="FFF2E5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7FDE663-CD5E-985D-D11A-8B172665C240}"/>
              </a:ext>
            </a:extLst>
          </p:cNvPr>
          <p:cNvSpPr/>
          <p:nvPr/>
        </p:nvSpPr>
        <p:spPr>
          <a:xfrm>
            <a:off x="4394200" y="3606800"/>
            <a:ext cx="76200" cy="1803400"/>
          </a:xfrm>
          <a:prstGeom prst="rect">
            <a:avLst/>
          </a:prstGeom>
          <a:solidFill>
            <a:srgbClr val="F28C2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28C2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08B0CCC-E550-FB47-0F1E-50900E69A82E}"/>
              </a:ext>
            </a:extLst>
          </p:cNvPr>
          <p:cNvSpPr txBox="1"/>
          <p:nvPr/>
        </p:nvSpPr>
        <p:spPr>
          <a:xfrm>
            <a:off x="4622800" y="3759200"/>
            <a:ext cx="3022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Method boundary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389E7FD-5ACB-56B9-748D-667A37CD9616}"/>
              </a:ext>
            </a:extLst>
          </p:cNvPr>
          <p:cNvSpPr txBox="1"/>
          <p:nvPr/>
        </p:nvSpPr>
        <p:spPr>
          <a:xfrm>
            <a:off x="4622800" y="4165600"/>
            <a:ext cx="3022600" cy="14773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Not all long-video methods repeat I2V. Queue, window-based, and hierarchical routes must be evaluated separately.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961F55F3-F808-C8ED-B0CA-CD6853448DDF}"/>
              </a:ext>
            </a:extLst>
          </p:cNvPr>
          <p:cNvSpPr/>
          <p:nvPr/>
        </p:nvSpPr>
        <p:spPr>
          <a:xfrm>
            <a:off x="8178800" y="3606800"/>
            <a:ext cx="3403600" cy="1803400"/>
          </a:xfrm>
          <a:prstGeom prst="roundRect">
            <a:avLst/>
          </a:prstGeom>
          <a:solidFill>
            <a:srgbClr val="EAF7F0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6AE9120-7B47-3BF2-CB0C-D864B01F3014}"/>
              </a:ext>
            </a:extLst>
          </p:cNvPr>
          <p:cNvSpPr/>
          <p:nvPr/>
        </p:nvSpPr>
        <p:spPr>
          <a:xfrm>
            <a:off x="8178800" y="3606800"/>
            <a:ext cx="76200" cy="1803400"/>
          </a:xfrm>
          <a:prstGeom prst="rect">
            <a:avLst/>
          </a:prstGeom>
          <a:solidFill>
            <a:srgbClr val="2E8B57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E8B57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7F3B7F1-FF16-798A-FD05-390DD7C08293}"/>
              </a:ext>
            </a:extLst>
          </p:cNvPr>
          <p:cNvSpPr txBox="1"/>
          <p:nvPr/>
        </p:nvSpPr>
        <p:spPr>
          <a:xfrm>
            <a:off x="8407400" y="3759200"/>
            <a:ext cx="3022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Research decision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1E2F255-CC14-02BB-7809-6007725B1E88}"/>
              </a:ext>
            </a:extLst>
          </p:cNvPr>
          <p:cNvSpPr txBox="1"/>
          <p:nvPr/>
        </p:nvSpPr>
        <p:spPr>
          <a:xfrm>
            <a:off x="8407400" y="4165600"/>
            <a:ext cx="3022600" cy="175432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Mechanism decomposition—not task equivalence. Validate the reusable local capability before system-level evaluation.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E6A986F-87AD-B310-A872-C5AA714E6E04}"/>
              </a:ext>
            </a:extLst>
          </p:cNvPr>
          <p:cNvSpPr txBox="1"/>
          <p:nvPr/>
        </p:nvSpPr>
        <p:spPr>
          <a:xfrm>
            <a:off x="609600" y="5753100"/>
            <a:ext cx="10972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>
                <a:solidFill>
                  <a:srgbClr val="64748B"/>
                </a:solidFill>
                <a:latin typeface="Aptos" panose="020B0004020202020204" pitchFamily="34" charset="0"/>
              </a:rPr>
              <a:t>Literature: StreamingT2V (CVPR 2025) · ViD-GPT · Ca2-VDM (ICML 2025) · STIV (ICCV 2025)</a:t>
            </a:r>
            <a:endParaRPr lang="zh-CN" altLang="en-US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988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3E506AC-B514-EA29-9EA5-68FFF626991C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4213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4213D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7E7353-7A38-B4DF-2C42-15F2397B5096}"/>
              </a:ext>
            </a:extLst>
          </p:cNvPr>
          <p:cNvSpPr txBox="1"/>
          <p:nvPr/>
        </p:nvSpPr>
        <p:spPr>
          <a:xfrm>
            <a:off x="406400" y="127000"/>
            <a:ext cx="9652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500" b="1">
                <a:solidFill>
                  <a:srgbClr val="FFFFFF"/>
                </a:solidFill>
                <a:latin typeface="Aptos" panose="020B0004020202020204" pitchFamily="34" charset="0"/>
              </a:rPr>
              <a:t>I2V Motivation &amp; Benchmark Gap</a:t>
            </a:r>
            <a:endParaRPr lang="zh-CN" altLang="en-US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F7421C-6F0A-3569-312E-558E89EBAD24}"/>
              </a:ext>
            </a:extLst>
          </p:cNvPr>
          <p:cNvSpPr txBox="1"/>
          <p:nvPr/>
        </p:nvSpPr>
        <p:spPr>
          <a:xfrm>
            <a:off x="10096500" y="165100"/>
            <a:ext cx="1333500" cy="9233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E5EAF0"/>
                </a:solidFill>
                <a:latin typeface="Aptos" panose="020B0004020202020204" pitchFamily="34" charset="0"/>
              </a:rPr>
              <a:t>MIDTERM PROGRESS REPORT</a:t>
            </a:r>
            <a:endParaRPr lang="zh-CN" altLang="en-US" sz="800" b="1">
              <a:solidFill>
                <a:srgbClr val="E5EAF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3A54C4-DFBA-91E8-4DB4-1062CB0C9A9E}"/>
              </a:ext>
            </a:extLst>
          </p:cNvPr>
          <p:cNvSpPr txBox="1"/>
          <p:nvPr/>
        </p:nvSpPr>
        <p:spPr>
          <a:xfrm>
            <a:off x="11493500" y="177800"/>
            <a:ext cx="355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2C14E"/>
                </a:solidFill>
                <a:latin typeface="Aptos" panose="020B0004020202020204" pitchFamily="34" charset="0"/>
              </a:rPr>
              <a:t>3</a:t>
            </a:r>
            <a:endParaRPr lang="zh-CN" altLang="en-US" sz="1300" b="1">
              <a:solidFill>
                <a:srgbClr val="F2C14E"/>
              </a:solidFill>
              <a:latin typeface="Aptos" panose="020B00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A3DBED9-14B0-1735-EC5C-1C41A0FB9CE6}"/>
              </a:ext>
            </a:extLst>
          </p:cNvPr>
          <p:cNvCxnSpPr/>
          <p:nvPr/>
        </p:nvCxnSpPr>
        <p:spPr>
          <a:xfrm>
            <a:off x="381000" y="6502400"/>
            <a:ext cx="11430000" cy="0"/>
          </a:xfrm>
          <a:prstGeom prst="line">
            <a:avLst/>
          </a:prstGeom>
          <a:ln w="889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9BEA885B-5897-7E07-A6DB-339C3F2077AA}"/>
              </a:ext>
            </a:extLst>
          </p:cNvPr>
          <p:cNvSpPr txBox="1"/>
          <p:nvPr/>
        </p:nvSpPr>
        <p:spPr>
          <a:xfrm>
            <a:off x="406400" y="6553200"/>
            <a:ext cx="5334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800">
                <a:solidFill>
                  <a:srgbClr val="64748B"/>
                </a:solidFill>
                <a:latin typeface="Aptos" panose="020B0004020202020204" pitchFamily="34" charset="0"/>
              </a:rPr>
              <a:t>I2V-CompBench · Candidate benchmark under validation</a:t>
            </a:r>
            <a:endParaRPr lang="zh-CN" altLang="en-US" sz="8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FE0061-64DE-511B-97FD-2FE1BF7A231B}"/>
              </a:ext>
            </a:extLst>
          </p:cNvPr>
          <p:cNvSpPr/>
          <p:nvPr/>
        </p:nvSpPr>
        <p:spPr>
          <a:xfrm>
            <a:off x="482600" y="1092200"/>
            <a:ext cx="6578600" cy="4445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9EA9A0-CF0C-CEDA-B00F-DA47C0494B48}"/>
              </a:ext>
            </a:extLst>
          </p:cNvPr>
          <p:cNvSpPr txBox="1"/>
          <p:nvPr/>
        </p:nvSpPr>
        <p:spPr>
          <a:xfrm>
            <a:off x="609600" y="1219200"/>
            <a:ext cx="6324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64748B"/>
                </a:solidFill>
                <a:latin typeface="Aptos" panose="020B0004020202020204" pitchFamily="34" charset="0"/>
              </a:rPr>
              <a:t>IMAGE PLACEHOLDER</a:t>
            </a:r>
            <a:endParaRPr lang="zh-CN" altLang="en-US" sz="11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442772-279D-33AE-CA7C-AA98498A5248}"/>
              </a:ext>
            </a:extLst>
          </p:cNvPr>
          <p:cNvSpPr txBox="1"/>
          <p:nvPr/>
        </p:nvSpPr>
        <p:spPr>
          <a:xfrm>
            <a:off x="660400" y="3086100"/>
            <a:ext cx="6223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64748B"/>
                </a:solidFill>
                <a:latin typeface="Aptos" panose="020B0004020202020204" pitchFamily="34" charset="0"/>
              </a:rPr>
              <a:t>Insert the two-dog conceptual example</a:t>
            </a:r>
            <a:endParaRPr lang="zh-CN" altLang="en-US" sz="15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B570B38-8ECB-A32A-48FB-7E7D66EDE1E7}"/>
              </a:ext>
            </a:extLst>
          </p:cNvPr>
          <p:cNvSpPr txBox="1"/>
          <p:nvPr/>
        </p:nvSpPr>
        <p:spPr>
          <a:xfrm>
            <a:off x="635000" y="5156200"/>
            <a:ext cx="62738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>
                <a:solidFill>
                  <a:srgbClr val="64748B"/>
                </a:solidFill>
                <a:latin typeface="Aptos" panose="020B0004020202020204" pitchFamily="34" charset="0"/>
              </a:rPr>
              <a:t>Keep the area for: input + wrong subject + zoom-only + correct output</a:t>
            </a:r>
            <a:endParaRPr lang="zh-CN" altLang="en-US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A8DAD31-FC2B-831A-8A71-379740AAE6A8}"/>
              </a:ext>
            </a:extLst>
          </p:cNvPr>
          <p:cNvSpPr txBox="1"/>
          <p:nvPr/>
        </p:nvSpPr>
        <p:spPr>
          <a:xfrm>
            <a:off x="482600" y="5651500"/>
            <a:ext cx="6578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Conceptual illustration — not an experimental result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CE16425-D459-E72B-975A-EB80971BC67E}"/>
              </a:ext>
            </a:extLst>
          </p:cNvPr>
          <p:cNvSpPr/>
          <p:nvPr/>
        </p:nvSpPr>
        <p:spPr>
          <a:xfrm>
            <a:off x="7416800" y="1117600"/>
            <a:ext cx="4292600" cy="111760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C0CEB7-EABB-DED3-E8F4-73A105AB3BC3}"/>
              </a:ext>
            </a:extLst>
          </p:cNvPr>
          <p:cNvSpPr/>
          <p:nvPr/>
        </p:nvSpPr>
        <p:spPr>
          <a:xfrm>
            <a:off x="7416800" y="1117600"/>
            <a:ext cx="76200" cy="1117600"/>
          </a:xfrm>
          <a:prstGeom prst="rect">
            <a:avLst/>
          </a:prstGeom>
          <a:solidFill>
            <a:srgbClr val="D64545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D64545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85D42E8-2B5F-A620-D9D7-4AF1E093056C}"/>
              </a:ext>
            </a:extLst>
          </p:cNvPr>
          <p:cNvSpPr txBox="1"/>
          <p:nvPr/>
        </p:nvSpPr>
        <p:spPr>
          <a:xfrm>
            <a:off x="7645400" y="1270000"/>
            <a:ext cx="3911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Core problem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000A1C-214C-AD33-240F-48F0D49BA204}"/>
              </a:ext>
            </a:extLst>
          </p:cNvPr>
          <p:cNvSpPr txBox="1"/>
          <p:nvPr/>
        </p:nvSpPr>
        <p:spPr>
          <a:xfrm>
            <a:off x="7645400" y="1676400"/>
            <a:ext cx="39116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300">
                <a:solidFill>
                  <a:srgbClr val="64748B"/>
                </a:solidFill>
                <a:latin typeface="Aptos" panose="020B0004020202020204" pitchFamily="34" charset="0"/>
              </a:rPr>
              <a:t>Visual quality does not guarantee instruction following.</a:t>
            </a:r>
            <a:endParaRPr lang="zh-CN" altLang="en-US" sz="13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A513C76-4557-E073-0D0E-B1CB3D00B2F5}"/>
              </a:ext>
            </a:extLst>
          </p:cNvPr>
          <p:cNvSpPr/>
          <p:nvPr/>
        </p:nvSpPr>
        <p:spPr>
          <a:xfrm>
            <a:off x="7416800" y="2413000"/>
            <a:ext cx="4292600" cy="160020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7AA592-B2A2-9F9A-18BA-B8B7CF912270}"/>
              </a:ext>
            </a:extLst>
          </p:cNvPr>
          <p:cNvSpPr/>
          <p:nvPr/>
        </p:nvSpPr>
        <p:spPr>
          <a:xfrm>
            <a:off x="7416800" y="2413000"/>
            <a:ext cx="76200" cy="1600200"/>
          </a:xfrm>
          <a:prstGeom prst="rect">
            <a:avLst/>
          </a:prstGeom>
          <a:solidFill>
            <a:srgbClr val="2F6B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F6B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37725AB-D6BC-E3E9-411E-7D45C79A912D}"/>
              </a:ext>
            </a:extLst>
          </p:cNvPr>
          <p:cNvSpPr txBox="1"/>
          <p:nvPr/>
        </p:nvSpPr>
        <p:spPr>
          <a:xfrm>
            <a:off x="7645400" y="2565400"/>
            <a:ext cx="3911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Existing benchmark gap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CB9E2F-5C47-E0C2-3C5B-710A543BB84A}"/>
              </a:ext>
            </a:extLst>
          </p:cNvPr>
          <p:cNvSpPr txBox="1"/>
          <p:nvPr/>
        </p:nvSpPr>
        <p:spPr>
          <a:xfrm>
            <a:off x="7645400" y="2971800"/>
            <a:ext cx="3911600" cy="91440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T2I: no temporal dynamics
T2V: no first-frame constraint
VBench: broad quality coverage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DE894A9-89CC-0938-C7EC-0CACF4C9FA86}"/>
              </a:ext>
            </a:extLst>
          </p:cNvPr>
          <p:cNvSpPr/>
          <p:nvPr/>
        </p:nvSpPr>
        <p:spPr>
          <a:xfrm>
            <a:off x="7416800" y="4191000"/>
            <a:ext cx="4292600" cy="1473200"/>
          </a:xfrm>
          <a:prstGeom prst="roundRect">
            <a:avLst/>
          </a:prstGeom>
          <a:solidFill>
            <a:srgbClr val="E7F8FA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EB55EFC-D8C9-0E48-4F35-C24A03E2C763}"/>
              </a:ext>
            </a:extLst>
          </p:cNvPr>
          <p:cNvSpPr/>
          <p:nvPr/>
        </p:nvSpPr>
        <p:spPr>
          <a:xfrm>
            <a:off x="7416800" y="4191000"/>
            <a:ext cx="76200" cy="1473200"/>
          </a:xfrm>
          <a:prstGeom prst="rect">
            <a:avLst/>
          </a:prstGeom>
          <a:solidFill>
            <a:srgbClr val="00A7B5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0A7B5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4D06E79-7057-04EB-6ABB-7A25BDE7D8F2}"/>
              </a:ext>
            </a:extLst>
          </p:cNvPr>
          <p:cNvSpPr txBox="1"/>
          <p:nvPr/>
        </p:nvSpPr>
        <p:spPr>
          <a:xfrm>
            <a:off x="7645400" y="4343400"/>
            <a:ext cx="3911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Our focus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4DC372A-5404-6706-0A48-E7E31AF2F1B9}"/>
              </a:ext>
            </a:extLst>
          </p:cNvPr>
          <p:cNvSpPr txBox="1"/>
          <p:nvPr/>
        </p:nvSpPr>
        <p:spPr>
          <a:xfrm>
            <a:off x="7645400" y="4749800"/>
            <a:ext cx="3911600" cy="9233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300">
                <a:solidFill>
                  <a:srgbClr val="64748B"/>
                </a:solidFill>
                <a:latin typeface="Aptos" panose="020B0004020202020204" pitchFamily="34" charset="0"/>
              </a:rPr>
              <a:t>Explicit Preserve + Transform constraints for subject-level failure attribution.</a:t>
            </a:r>
            <a:endParaRPr lang="zh-CN" altLang="en-US" sz="13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5892866-F0EF-3392-A2D8-54963380D3FF}"/>
              </a:ext>
            </a:extLst>
          </p:cNvPr>
          <p:cNvSpPr txBox="1"/>
          <p:nvPr/>
        </p:nvSpPr>
        <p:spPr>
          <a:xfrm>
            <a:off x="7416800" y="5867400"/>
            <a:ext cx="42926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F3A5F"/>
                </a:solidFill>
                <a:latin typeface="Aptos" panose="020B0004020202020204" pitchFamily="34" charset="0"/>
              </a:rPr>
              <a:t>Known first frame ⇒ change and preservation are jointly testable</a:t>
            </a:r>
            <a:endParaRPr lang="zh-CN" altLang="en-US" sz="1000" b="1">
              <a:solidFill>
                <a:srgbClr val="1F3A5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285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BC2C65A-7B05-E518-C1C9-F092B1F932B8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4213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4213D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433747-FF66-A817-0713-371E6AA79929}"/>
              </a:ext>
            </a:extLst>
          </p:cNvPr>
          <p:cNvSpPr txBox="1"/>
          <p:nvPr/>
        </p:nvSpPr>
        <p:spPr>
          <a:xfrm>
            <a:off x="406400" y="127000"/>
            <a:ext cx="9652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500" b="1">
                <a:solidFill>
                  <a:srgbClr val="FFFFFF"/>
                </a:solidFill>
                <a:latin typeface="Aptos" panose="020B0004020202020204" pitchFamily="34" charset="0"/>
              </a:rPr>
              <a:t>Preserve–Transform Evaluation Framework</a:t>
            </a:r>
            <a:endParaRPr lang="zh-CN" altLang="en-US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A8985A-588D-7F1B-C5D5-970844B5EFEB}"/>
              </a:ext>
            </a:extLst>
          </p:cNvPr>
          <p:cNvSpPr txBox="1"/>
          <p:nvPr/>
        </p:nvSpPr>
        <p:spPr>
          <a:xfrm>
            <a:off x="10096500" y="165100"/>
            <a:ext cx="1333500" cy="9233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E5EAF0"/>
                </a:solidFill>
                <a:latin typeface="Aptos" panose="020B0004020202020204" pitchFamily="34" charset="0"/>
              </a:rPr>
              <a:t>MIDTERM PROGRESS REPORT</a:t>
            </a:r>
            <a:endParaRPr lang="zh-CN" altLang="en-US" sz="800" b="1">
              <a:solidFill>
                <a:srgbClr val="E5EAF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2C92F0-C6CD-672E-43C6-A68CBEE0A847}"/>
              </a:ext>
            </a:extLst>
          </p:cNvPr>
          <p:cNvSpPr txBox="1"/>
          <p:nvPr/>
        </p:nvSpPr>
        <p:spPr>
          <a:xfrm>
            <a:off x="11493500" y="177800"/>
            <a:ext cx="355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2C14E"/>
                </a:solidFill>
                <a:latin typeface="Aptos" panose="020B0004020202020204" pitchFamily="34" charset="0"/>
              </a:rPr>
              <a:t>4</a:t>
            </a:r>
            <a:endParaRPr lang="zh-CN" altLang="en-US" sz="1300" b="1">
              <a:solidFill>
                <a:srgbClr val="F2C14E"/>
              </a:solidFill>
              <a:latin typeface="Aptos" panose="020B00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CE5BE4B-8576-C296-5E98-817ADAD4B251}"/>
              </a:ext>
            </a:extLst>
          </p:cNvPr>
          <p:cNvCxnSpPr/>
          <p:nvPr/>
        </p:nvCxnSpPr>
        <p:spPr>
          <a:xfrm>
            <a:off x="381000" y="6502400"/>
            <a:ext cx="11430000" cy="0"/>
          </a:xfrm>
          <a:prstGeom prst="line">
            <a:avLst/>
          </a:prstGeom>
          <a:ln w="889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2B7E72D-6852-A725-6EA4-FD88D60E28BE}"/>
              </a:ext>
            </a:extLst>
          </p:cNvPr>
          <p:cNvSpPr txBox="1"/>
          <p:nvPr/>
        </p:nvSpPr>
        <p:spPr>
          <a:xfrm>
            <a:off x="406400" y="6553200"/>
            <a:ext cx="5334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800">
                <a:solidFill>
                  <a:srgbClr val="64748B"/>
                </a:solidFill>
                <a:latin typeface="Aptos" panose="020B0004020202020204" pitchFamily="34" charset="0"/>
              </a:rPr>
              <a:t>I2V-CompBench · Candidate benchmark under validation</a:t>
            </a:r>
            <a:endParaRPr lang="zh-CN" altLang="en-US" sz="8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ADE094A-4DDD-7519-D778-2957E9624529}"/>
              </a:ext>
            </a:extLst>
          </p:cNvPr>
          <p:cNvSpPr/>
          <p:nvPr/>
        </p:nvSpPr>
        <p:spPr>
          <a:xfrm>
            <a:off x="533400" y="1346200"/>
            <a:ext cx="2159000" cy="2159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B97481-A249-03E0-0583-20858AB8DE94}"/>
              </a:ext>
            </a:extLst>
          </p:cNvPr>
          <p:cNvSpPr txBox="1"/>
          <p:nvPr/>
        </p:nvSpPr>
        <p:spPr>
          <a:xfrm>
            <a:off x="660400" y="1473200"/>
            <a:ext cx="1905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64748B"/>
                </a:solidFill>
                <a:latin typeface="Aptos" panose="020B0004020202020204" pitchFamily="34" charset="0"/>
              </a:rPr>
              <a:t>IMAGE PLACEHOLDER</a:t>
            </a:r>
            <a:endParaRPr lang="zh-CN" altLang="en-US" sz="11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CE9509-6E25-003E-1DE4-0F8A839345CC}"/>
              </a:ext>
            </a:extLst>
          </p:cNvPr>
          <p:cNvSpPr txBox="1"/>
          <p:nvPr/>
        </p:nvSpPr>
        <p:spPr>
          <a:xfrm>
            <a:off x="711200" y="2197100"/>
            <a:ext cx="18034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64748B"/>
                </a:solidFill>
                <a:latin typeface="Aptos" panose="020B0004020202020204" pitchFamily="34" charset="0"/>
              </a:rPr>
              <a:t>Insert one input image I₀</a:t>
            </a:r>
            <a:endParaRPr lang="zh-CN" altLang="en-US" sz="15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7EDCF-6A28-4C84-A284-C0323AF266C0}"/>
              </a:ext>
            </a:extLst>
          </p:cNvPr>
          <p:cNvSpPr txBox="1"/>
          <p:nvPr/>
        </p:nvSpPr>
        <p:spPr>
          <a:xfrm>
            <a:off x="685800" y="3124200"/>
            <a:ext cx="1854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>
                <a:solidFill>
                  <a:srgbClr val="64748B"/>
                </a:solidFill>
                <a:latin typeface="Aptos" panose="020B0004020202020204" pitchFamily="34" charset="0"/>
              </a:rPr>
              <a:t>Optional example image</a:t>
            </a:r>
            <a:endParaRPr lang="zh-CN" altLang="en-US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0AB4E3C-4508-45EF-DE69-EFBBFDF14147}"/>
              </a:ext>
            </a:extLst>
          </p:cNvPr>
          <p:cNvCxnSpPr/>
          <p:nvPr/>
        </p:nvCxnSpPr>
        <p:spPr>
          <a:xfrm>
            <a:off x="2717800" y="2425700"/>
            <a:ext cx="1092200" cy="0"/>
          </a:xfrm>
          <a:prstGeom prst="line">
            <a:avLst/>
          </a:prstGeom>
          <a:ln w="3175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4A60A3C-18DB-20D5-E887-3D2BD4CAE202}"/>
              </a:ext>
            </a:extLst>
          </p:cNvPr>
          <p:cNvSpPr/>
          <p:nvPr/>
        </p:nvSpPr>
        <p:spPr>
          <a:xfrm>
            <a:off x="3835400" y="1270000"/>
            <a:ext cx="3175000" cy="1143000"/>
          </a:xfrm>
          <a:prstGeom prst="roundRect">
            <a:avLst/>
          </a:prstGeom>
          <a:solidFill>
            <a:srgbClr val="E7F8FA"/>
          </a:solidFill>
          <a:ln w="19050">
            <a:solidFill>
              <a:srgbClr val="00A7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1ECE977-7842-C809-11C0-2634C92F6286}"/>
              </a:ext>
            </a:extLst>
          </p:cNvPr>
          <p:cNvSpPr txBox="1"/>
          <p:nvPr/>
        </p:nvSpPr>
        <p:spPr>
          <a:xfrm>
            <a:off x="4064000" y="1498600"/>
            <a:ext cx="2717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00A7B5"/>
                </a:solidFill>
                <a:latin typeface="Aptos" panose="020B0004020202020204" pitchFamily="34" charset="0"/>
              </a:rPr>
              <a:t>PRESERVE SET  P</a:t>
            </a:r>
            <a:endParaRPr lang="zh-CN" altLang="en-US" sz="1600" b="1">
              <a:solidFill>
                <a:srgbClr val="00A7B5"/>
              </a:solidFill>
              <a:latin typeface="Aptos" panose="020B00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B7CBC4-BCAF-C604-7B4D-883DD546108C}"/>
              </a:ext>
            </a:extLst>
          </p:cNvPr>
          <p:cNvSpPr txBox="1"/>
          <p:nvPr/>
        </p:nvSpPr>
        <p:spPr>
          <a:xfrm>
            <a:off x="4064000" y="1917700"/>
            <a:ext cx="27178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>
                <a:solidFill>
                  <a:srgbClr val="64748B"/>
                </a:solidFill>
                <a:latin typeface="Aptos" panose="020B0004020202020204" pitchFamily="34" charset="0"/>
              </a:rPr>
              <a:t>Identity · layout · background</a:t>
            </a:r>
            <a:endParaRPr lang="zh-CN" altLang="en-US" sz="11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45E3EAA-7AD0-078C-BA2A-27134EBFFA58}"/>
              </a:ext>
            </a:extLst>
          </p:cNvPr>
          <p:cNvSpPr/>
          <p:nvPr/>
        </p:nvSpPr>
        <p:spPr>
          <a:xfrm>
            <a:off x="3835400" y="2692400"/>
            <a:ext cx="3175000" cy="1143000"/>
          </a:xfrm>
          <a:prstGeom prst="roundRect">
            <a:avLst/>
          </a:prstGeom>
          <a:solidFill>
            <a:srgbClr val="FFF2E5"/>
          </a:solidFill>
          <a:ln w="19050">
            <a:solidFill>
              <a:srgbClr val="F28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0A29F0D-1CA4-A3AD-1EE5-14BC63333859}"/>
              </a:ext>
            </a:extLst>
          </p:cNvPr>
          <p:cNvSpPr txBox="1"/>
          <p:nvPr/>
        </p:nvSpPr>
        <p:spPr>
          <a:xfrm>
            <a:off x="4064000" y="2921000"/>
            <a:ext cx="2717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F28C28"/>
                </a:solidFill>
                <a:latin typeface="Aptos" panose="020B0004020202020204" pitchFamily="34" charset="0"/>
              </a:rPr>
              <a:t>TRANSFORM SET  T</a:t>
            </a:r>
            <a:endParaRPr lang="zh-CN" altLang="en-US" sz="1600" b="1">
              <a:solidFill>
                <a:srgbClr val="F28C28"/>
              </a:solidFill>
              <a:latin typeface="Aptos" panose="020B00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6867487-5ACC-0B7C-599A-161789DD0839}"/>
              </a:ext>
            </a:extLst>
          </p:cNvPr>
          <p:cNvSpPr txBox="1"/>
          <p:nvPr/>
        </p:nvSpPr>
        <p:spPr>
          <a:xfrm>
            <a:off x="4064000" y="3340100"/>
            <a:ext cx="2717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>
                <a:solidFill>
                  <a:srgbClr val="64748B"/>
                </a:solidFill>
                <a:latin typeface="Aptos" panose="020B0004020202020204" pitchFamily="34" charset="0"/>
              </a:rPr>
              <a:t>Target · action · direction</a:t>
            </a:r>
            <a:endParaRPr lang="zh-CN" altLang="en-US" sz="11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74F6D7F-47AE-1902-F948-14D6CA2A3241}"/>
              </a:ext>
            </a:extLst>
          </p:cNvPr>
          <p:cNvCxnSpPr/>
          <p:nvPr/>
        </p:nvCxnSpPr>
        <p:spPr>
          <a:xfrm>
            <a:off x="7035800" y="2425700"/>
            <a:ext cx="1092200" cy="0"/>
          </a:xfrm>
          <a:prstGeom prst="line">
            <a:avLst/>
          </a:prstGeom>
          <a:ln w="3175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C5AC06E-9D86-815E-1EC5-7D33309C9032}"/>
              </a:ext>
            </a:extLst>
          </p:cNvPr>
          <p:cNvSpPr/>
          <p:nvPr/>
        </p:nvSpPr>
        <p:spPr>
          <a:xfrm>
            <a:off x="8153400" y="1625600"/>
            <a:ext cx="3429000" cy="16002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E4D188-7268-9575-E9FE-897B0F5552BA}"/>
              </a:ext>
            </a:extLst>
          </p:cNvPr>
          <p:cNvSpPr txBox="1"/>
          <p:nvPr/>
        </p:nvSpPr>
        <p:spPr>
          <a:xfrm>
            <a:off x="8382000" y="1879600"/>
            <a:ext cx="2971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700" b="1">
                <a:solidFill>
                  <a:srgbClr val="14213D"/>
                </a:solidFill>
                <a:latin typeface="Aptos" panose="020B0004020202020204" pitchFamily="34" charset="0"/>
              </a:rPr>
              <a:t>Generated video  V</a:t>
            </a:r>
            <a:endParaRPr lang="zh-CN" altLang="en-US" sz="17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DD54DF-F3F9-A8DC-BB49-76E573E93FF4}"/>
              </a:ext>
            </a:extLst>
          </p:cNvPr>
          <p:cNvSpPr txBox="1"/>
          <p:nvPr/>
        </p:nvSpPr>
        <p:spPr>
          <a:xfrm>
            <a:off x="8382000" y="2374900"/>
            <a:ext cx="29718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Execution · Preservation · Coherence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9B0F1F9-BD02-67F1-3568-E90451FDB321}"/>
              </a:ext>
            </a:extLst>
          </p:cNvPr>
          <p:cNvSpPr txBox="1"/>
          <p:nvPr/>
        </p:nvSpPr>
        <p:spPr>
          <a:xfrm>
            <a:off x="533400" y="4191000"/>
            <a:ext cx="11049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4213D"/>
                </a:solidFill>
                <a:latin typeface="Aptos" panose="020B0004020202020204" pitchFamily="34" charset="0"/>
              </a:rPr>
              <a:t>Five evaluation dimensions</a:t>
            </a:r>
            <a:endParaRPr lang="zh-CN" altLang="en-US" sz="15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24A3D65-20DE-60B6-3E4E-A3DB344CA9D9}"/>
              </a:ext>
            </a:extLst>
          </p:cNvPr>
          <p:cNvSpPr/>
          <p:nvPr/>
        </p:nvSpPr>
        <p:spPr>
          <a:xfrm>
            <a:off x="533400" y="4635500"/>
            <a:ext cx="1981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3A060F6-EC09-27B2-130D-B5556B7B7C27}"/>
              </a:ext>
            </a:extLst>
          </p:cNvPr>
          <p:cNvSpPr txBox="1"/>
          <p:nvPr/>
        </p:nvSpPr>
        <p:spPr>
          <a:xfrm>
            <a:off x="635000" y="4800600"/>
            <a:ext cx="1778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BFF"/>
                </a:solidFill>
                <a:latin typeface="Aptos" panose="020B0004020202020204" pitchFamily="34" charset="0"/>
              </a:rPr>
              <a:t>Attribute</a:t>
            </a:r>
            <a:endParaRPr lang="zh-CN" altLang="en-US" sz="1300" b="1">
              <a:solidFill>
                <a:srgbClr val="2F6BFF"/>
              </a:solidFill>
              <a:latin typeface="Aptos" panose="020B00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10CB53E-063C-3103-673E-F1F3186ADEFA}"/>
              </a:ext>
            </a:extLst>
          </p:cNvPr>
          <p:cNvSpPr txBox="1"/>
          <p:nvPr/>
        </p:nvSpPr>
        <p:spPr>
          <a:xfrm>
            <a:off x="635000" y="5130800"/>
            <a:ext cx="1778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Binding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5B43CDE-38C8-ED22-A6F4-4C7DCBB1A966}"/>
              </a:ext>
            </a:extLst>
          </p:cNvPr>
          <p:cNvSpPr/>
          <p:nvPr/>
        </p:nvSpPr>
        <p:spPr>
          <a:xfrm>
            <a:off x="2768600" y="4635500"/>
            <a:ext cx="1981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7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37609E2-1638-FC51-AEDF-FEF7157AD88D}"/>
              </a:ext>
            </a:extLst>
          </p:cNvPr>
          <p:cNvSpPr txBox="1"/>
          <p:nvPr/>
        </p:nvSpPr>
        <p:spPr>
          <a:xfrm>
            <a:off x="2870200" y="4800600"/>
            <a:ext cx="1778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0A7B5"/>
                </a:solidFill>
                <a:latin typeface="Aptos" panose="020B0004020202020204" pitchFamily="34" charset="0"/>
              </a:rPr>
              <a:t>Action</a:t>
            </a:r>
            <a:endParaRPr lang="zh-CN" altLang="en-US" sz="1300" b="1">
              <a:solidFill>
                <a:srgbClr val="00A7B5"/>
              </a:solidFill>
              <a:latin typeface="Aptos" panose="020B00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3981FFD-D898-28F0-3CE7-A3A738BFC7A3}"/>
              </a:ext>
            </a:extLst>
          </p:cNvPr>
          <p:cNvSpPr txBox="1"/>
          <p:nvPr/>
        </p:nvSpPr>
        <p:spPr>
          <a:xfrm>
            <a:off x="2870200" y="5130800"/>
            <a:ext cx="1778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Binding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A573B5F-4670-9456-5743-ED97FD2992F0}"/>
              </a:ext>
            </a:extLst>
          </p:cNvPr>
          <p:cNvSpPr/>
          <p:nvPr/>
        </p:nvSpPr>
        <p:spPr>
          <a:xfrm>
            <a:off x="5003800" y="4635500"/>
            <a:ext cx="1981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E80FD7C-B57E-EDD1-FCD8-B4F986432011}"/>
              </a:ext>
            </a:extLst>
          </p:cNvPr>
          <p:cNvSpPr txBox="1"/>
          <p:nvPr/>
        </p:nvSpPr>
        <p:spPr>
          <a:xfrm>
            <a:off x="5105400" y="4800600"/>
            <a:ext cx="1778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28C28"/>
                </a:solidFill>
                <a:latin typeface="Aptos" panose="020B0004020202020204" pitchFamily="34" charset="0"/>
              </a:rPr>
              <a:t>Motion</a:t>
            </a:r>
            <a:endParaRPr lang="zh-CN" altLang="en-US" sz="1300" b="1">
              <a:solidFill>
                <a:srgbClr val="F28C28"/>
              </a:solidFill>
              <a:latin typeface="Aptos" panose="020B00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D7F6058-CB41-323E-149D-8D2C353C5F0E}"/>
              </a:ext>
            </a:extLst>
          </p:cNvPr>
          <p:cNvSpPr txBox="1"/>
          <p:nvPr/>
        </p:nvSpPr>
        <p:spPr>
          <a:xfrm>
            <a:off x="5105400" y="5130800"/>
            <a:ext cx="1778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Binding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2603E5D-141B-0BE7-86DB-D8279127C419}"/>
              </a:ext>
            </a:extLst>
          </p:cNvPr>
          <p:cNvSpPr/>
          <p:nvPr/>
        </p:nvSpPr>
        <p:spPr>
          <a:xfrm>
            <a:off x="7239000" y="4635500"/>
            <a:ext cx="1981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9610A65-CB34-402E-A99F-267F67477E8D}"/>
              </a:ext>
            </a:extLst>
          </p:cNvPr>
          <p:cNvSpPr txBox="1"/>
          <p:nvPr/>
        </p:nvSpPr>
        <p:spPr>
          <a:xfrm>
            <a:off x="7340600" y="4800600"/>
            <a:ext cx="1778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E8B57"/>
                </a:solidFill>
                <a:latin typeface="Aptos" panose="020B0004020202020204" pitchFamily="34" charset="0"/>
              </a:rPr>
              <a:t>Background</a:t>
            </a:r>
            <a:endParaRPr lang="zh-CN" altLang="en-US" sz="1300" b="1">
              <a:solidFill>
                <a:srgbClr val="2E8B57"/>
              </a:solidFill>
              <a:latin typeface="Aptos" panose="020B00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EADA65A-8F06-79EC-D583-9508233A056B}"/>
              </a:ext>
            </a:extLst>
          </p:cNvPr>
          <p:cNvSpPr txBox="1"/>
          <p:nvPr/>
        </p:nvSpPr>
        <p:spPr>
          <a:xfrm>
            <a:off x="7340600" y="5130800"/>
            <a:ext cx="1778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Dynamics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E24DD53-1333-F95F-99E3-6D7005A7B78B}"/>
              </a:ext>
            </a:extLst>
          </p:cNvPr>
          <p:cNvSpPr/>
          <p:nvPr/>
        </p:nvSpPr>
        <p:spPr>
          <a:xfrm>
            <a:off x="9474200" y="4635500"/>
            <a:ext cx="1981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CA66931-90AC-5F86-1675-56FA0C400914}"/>
              </a:ext>
            </a:extLst>
          </p:cNvPr>
          <p:cNvSpPr txBox="1"/>
          <p:nvPr/>
        </p:nvSpPr>
        <p:spPr>
          <a:xfrm>
            <a:off x="9575800" y="4800600"/>
            <a:ext cx="1778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1F3A5F"/>
                </a:solidFill>
                <a:latin typeface="Aptos" panose="020B0004020202020204" pitchFamily="34" charset="0"/>
              </a:rPr>
              <a:t>View</a:t>
            </a:r>
            <a:endParaRPr lang="zh-CN" altLang="en-US" sz="1300" b="1">
              <a:solidFill>
                <a:srgbClr val="1F3A5F"/>
              </a:solidFill>
              <a:latin typeface="Aptos" panose="020B00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54D016E-58B8-6E06-6709-BB50E7EF8D9D}"/>
              </a:ext>
            </a:extLst>
          </p:cNvPr>
          <p:cNvSpPr txBox="1"/>
          <p:nvPr/>
        </p:nvSpPr>
        <p:spPr>
          <a:xfrm>
            <a:off x="9575800" y="5130800"/>
            <a:ext cx="1778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Transformation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B43C417-25A7-2748-256E-EB933324E220}"/>
              </a:ext>
            </a:extLst>
          </p:cNvPr>
          <p:cNvSpPr txBox="1"/>
          <p:nvPr/>
        </p:nvSpPr>
        <p:spPr>
          <a:xfrm>
            <a:off x="533400" y="5880100"/>
            <a:ext cx="11049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1F3A5F"/>
                </a:solidFill>
                <a:latin typeface="Cambria Math" panose="02040503050406030204" pitchFamily="18" charset="0"/>
              </a:rPr>
              <a:t>Valid(x) = Identifiable ∧ Observable ∧ Separable ∧ Non-trivial</a:t>
            </a:r>
            <a:endParaRPr lang="zh-CN" altLang="en-US" sz="1300" b="1">
              <a:solidFill>
                <a:srgbClr val="1F3A5F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951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6A41708-153F-EB98-2ABC-F3A426F21D00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4213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4213D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637DB9-1D82-D298-CAD3-6F46385C23FA}"/>
              </a:ext>
            </a:extLst>
          </p:cNvPr>
          <p:cNvSpPr txBox="1"/>
          <p:nvPr/>
        </p:nvSpPr>
        <p:spPr>
          <a:xfrm>
            <a:off x="406400" y="127000"/>
            <a:ext cx="9652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500" b="1">
                <a:solidFill>
                  <a:srgbClr val="FFFFFF"/>
                </a:solidFill>
                <a:latin typeface="Aptos" panose="020B0004020202020204" pitchFamily="34" charset="0"/>
              </a:rPr>
              <a:t>Overall Pipeline Architecture</a:t>
            </a:r>
            <a:endParaRPr lang="zh-CN" altLang="en-US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51AF5F-990D-EDD1-38D5-D15FEC40BB54}"/>
              </a:ext>
            </a:extLst>
          </p:cNvPr>
          <p:cNvSpPr txBox="1"/>
          <p:nvPr/>
        </p:nvSpPr>
        <p:spPr>
          <a:xfrm>
            <a:off x="10096500" y="165100"/>
            <a:ext cx="1333500" cy="9233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E5EAF0"/>
                </a:solidFill>
                <a:latin typeface="Aptos" panose="020B0004020202020204" pitchFamily="34" charset="0"/>
              </a:rPr>
              <a:t>MIDTERM PROGRESS REPORT</a:t>
            </a:r>
            <a:endParaRPr lang="zh-CN" altLang="en-US" sz="800" b="1">
              <a:solidFill>
                <a:srgbClr val="E5EAF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3DD5ED-71CC-1386-9472-61B43E15FC3B}"/>
              </a:ext>
            </a:extLst>
          </p:cNvPr>
          <p:cNvSpPr txBox="1"/>
          <p:nvPr/>
        </p:nvSpPr>
        <p:spPr>
          <a:xfrm>
            <a:off x="11493500" y="177800"/>
            <a:ext cx="355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2C14E"/>
                </a:solidFill>
                <a:latin typeface="Aptos" panose="020B0004020202020204" pitchFamily="34" charset="0"/>
              </a:rPr>
              <a:t>5</a:t>
            </a:r>
            <a:endParaRPr lang="zh-CN" altLang="en-US" sz="1300" b="1">
              <a:solidFill>
                <a:srgbClr val="F2C14E"/>
              </a:solidFill>
              <a:latin typeface="Aptos" panose="020B00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35E8CF2-C156-FEBB-7652-04D907C53687}"/>
              </a:ext>
            </a:extLst>
          </p:cNvPr>
          <p:cNvCxnSpPr/>
          <p:nvPr/>
        </p:nvCxnSpPr>
        <p:spPr>
          <a:xfrm>
            <a:off x="381000" y="6502400"/>
            <a:ext cx="11430000" cy="0"/>
          </a:xfrm>
          <a:prstGeom prst="line">
            <a:avLst/>
          </a:prstGeom>
          <a:ln w="889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F14AAF7-A7D5-687E-DBC8-E970A6DE5A97}"/>
              </a:ext>
            </a:extLst>
          </p:cNvPr>
          <p:cNvSpPr txBox="1"/>
          <p:nvPr/>
        </p:nvSpPr>
        <p:spPr>
          <a:xfrm>
            <a:off x="406400" y="6553200"/>
            <a:ext cx="5334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800">
                <a:solidFill>
                  <a:srgbClr val="64748B"/>
                </a:solidFill>
                <a:latin typeface="Aptos" panose="020B0004020202020204" pitchFamily="34" charset="0"/>
              </a:rPr>
              <a:t>I2V-CompBench · Candidate benchmark under validation</a:t>
            </a:r>
            <a:endParaRPr lang="zh-CN" altLang="en-US" sz="8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3B6E991-89FD-2DD2-CFE9-4176E56F622E}"/>
              </a:ext>
            </a:extLst>
          </p:cNvPr>
          <p:cNvSpPr/>
          <p:nvPr/>
        </p:nvSpPr>
        <p:spPr>
          <a:xfrm>
            <a:off x="431800" y="1600200"/>
            <a:ext cx="1955800" cy="1168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F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300EA45-9A27-C42E-9381-D1740CCB869A}"/>
              </a:ext>
            </a:extLst>
          </p:cNvPr>
          <p:cNvSpPr txBox="1"/>
          <p:nvPr/>
        </p:nvSpPr>
        <p:spPr>
          <a:xfrm>
            <a:off x="533400" y="1828800"/>
            <a:ext cx="1752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1F3A5F"/>
                </a:solidFill>
                <a:latin typeface="Aptos" panose="020B0004020202020204" pitchFamily="34" charset="0"/>
              </a:rPr>
              <a:t>TIP-I2V</a:t>
            </a:r>
            <a:endParaRPr lang="zh-CN" altLang="en-US" sz="1500" b="1">
              <a:solidFill>
                <a:srgbClr val="1F3A5F"/>
              </a:solidFill>
              <a:latin typeface="Aptos" panose="020B00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A57211-D754-02A3-41AF-6E8239BE45EA}"/>
              </a:ext>
            </a:extLst>
          </p:cNvPr>
          <p:cNvSpPr txBox="1"/>
          <p:nvPr/>
        </p:nvSpPr>
        <p:spPr>
          <a:xfrm>
            <a:off x="533400" y="2286000"/>
            <a:ext cx="1752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Real user priors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4F0C6BD-BB97-1E80-9FB9-DCA748C0CF01}"/>
              </a:ext>
            </a:extLst>
          </p:cNvPr>
          <p:cNvCxnSpPr/>
          <p:nvPr/>
        </p:nvCxnSpPr>
        <p:spPr>
          <a:xfrm>
            <a:off x="2400300" y="2184400"/>
            <a:ext cx="355600" cy="0"/>
          </a:xfrm>
          <a:prstGeom prst="line">
            <a:avLst/>
          </a:prstGeom>
          <a:ln w="2794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E22A587-E3E4-8878-7B60-6AA2DEA30F36}"/>
              </a:ext>
            </a:extLst>
          </p:cNvPr>
          <p:cNvSpPr/>
          <p:nvPr/>
        </p:nvSpPr>
        <p:spPr>
          <a:xfrm>
            <a:off x="2768600" y="1600200"/>
            <a:ext cx="1955800" cy="1168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3DF913-EFDC-E96D-F4A9-3E6BE40A9E7E}"/>
              </a:ext>
            </a:extLst>
          </p:cNvPr>
          <p:cNvSpPr txBox="1"/>
          <p:nvPr/>
        </p:nvSpPr>
        <p:spPr>
          <a:xfrm>
            <a:off x="2870200" y="1828800"/>
            <a:ext cx="1752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2F6BFF"/>
                </a:solidFill>
                <a:latin typeface="Aptos" panose="020B0004020202020204" pitchFamily="34" charset="0"/>
              </a:rPr>
              <a:t>Phase 1</a:t>
            </a:r>
            <a:endParaRPr lang="zh-CN" altLang="en-US" sz="1500" b="1">
              <a:solidFill>
                <a:srgbClr val="2F6B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466DF46-3248-A85F-556D-B2243D170E19}"/>
              </a:ext>
            </a:extLst>
          </p:cNvPr>
          <p:cNvSpPr txBox="1"/>
          <p:nvPr/>
        </p:nvSpPr>
        <p:spPr>
          <a:xfrm>
            <a:off x="2870200" y="2286000"/>
            <a:ext cx="1752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Prior extraction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83DF387-0E74-683C-4BE0-A7A52534D7F1}"/>
              </a:ext>
            </a:extLst>
          </p:cNvPr>
          <p:cNvCxnSpPr/>
          <p:nvPr/>
        </p:nvCxnSpPr>
        <p:spPr>
          <a:xfrm>
            <a:off x="4737100" y="2184400"/>
            <a:ext cx="355600" cy="0"/>
          </a:xfrm>
          <a:prstGeom prst="line">
            <a:avLst/>
          </a:prstGeom>
          <a:ln w="2794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9E62515-2E6A-B9D9-E4A4-39284B3A5211}"/>
              </a:ext>
            </a:extLst>
          </p:cNvPr>
          <p:cNvSpPr/>
          <p:nvPr/>
        </p:nvSpPr>
        <p:spPr>
          <a:xfrm>
            <a:off x="5105400" y="1600200"/>
            <a:ext cx="1955800" cy="1168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00A7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177EDB4-74D8-0958-BCF6-19F6DC60CDBD}"/>
              </a:ext>
            </a:extLst>
          </p:cNvPr>
          <p:cNvSpPr txBox="1"/>
          <p:nvPr/>
        </p:nvSpPr>
        <p:spPr>
          <a:xfrm>
            <a:off x="5207000" y="1828800"/>
            <a:ext cx="1752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00A7B5"/>
                </a:solidFill>
                <a:latin typeface="Aptos" panose="020B0004020202020204" pitchFamily="34" charset="0"/>
              </a:rPr>
              <a:t>Phase 2</a:t>
            </a:r>
            <a:endParaRPr lang="zh-CN" altLang="en-US" sz="1500" b="1">
              <a:solidFill>
                <a:srgbClr val="00A7B5"/>
              </a:solidFill>
              <a:latin typeface="Aptos" panose="020B00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C31F157-FC93-9F15-4AF7-1803840E3792}"/>
              </a:ext>
            </a:extLst>
          </p:cNvPr>
          <p:cNvSpPr txBox="1"/>
          <p:nvPr/>
        </p:nvSpPr>
        <p:spPr>
          <a:xfrm>
            <a:off x="5207000" y="2286000"/>
            <a:ext cx="17526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Candidate synthesis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AFF1089-E4B1-3D36-BFDF-A70F6F3E163C}"/>
              </a:ext>
            </a:extLst>
          </p:cNvPr>
          <p:cNvCxnSpPr/>
          <p:nvPr/>
        </p:nvCxnSpPr>
        <p:spPr>
          <a:xfrm>
            <a:off x="7073900" y="2184400"/>
            <a:ext cx="355600" cy="0"/>
          </a:xfrm>
          <a:prstGeom prst="line">
            <a:avLst/>
          </a:prstGeom>
          <a:ln w="2794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F382B91-5820-8152-CE04-EA2BE33F7BA7}"/>
              </a:ext>
            </a:extLst>
          </p:cNvPr>
          <p:cNvSpPr/>
          <p:nvPr/>
        </p:nvSpPr>
        <p:spPr>
          <a:xfrm>
            <a:off x="7442200" y="1600200"/>
            <a:ext cx="1955800" cy="1168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F28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9CE1AE8-D0FE-CCA8-8105-467551411653}"/>
              </a:ext>
            </a:extLst>
          </p:cNvPr>
          <p:cNvSpPr txBox="1"/>
          <p:nvPr/>
        </p:nvSpPr>
        <p:spPr>
          <a:xfrm>
            <a:off x="7543800" y="1828800"/>
            <a:ext cx="1752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F28C28"/>
                </a:solidFill>
                <a:latin typeface="Aptos" panose="020B0004020202020204" pitchFamily="34" charset="0"/>
              </a:rPr>
              <a:t>Quality Control</a:t>
            </a:r>
            <a:endParaRPr lang="zh-CN" altLang="en-US" sz="1500" b="1">
              <a:solidFill>
                <a:srgbClr val="F28C28"/>
              </a:solidFill>
              <a:latin typeface="Aptos" panose="020B00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E5F0D66-12AD-1CCA-12A8-E67B5EA8C7D7}"/>
              </a:ext>
            </a:extLst>
          </p:cNvPr>
          <p:cNvSpPr txBox="1"/>
          <p:nvPr/>
        </p:nvSpPr>
        <p:spPr>
          <a:xfrm>
            <a:off x="7543800" y="2286000"/>
            <a:ext cx="1752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P0–P4 repair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8CFD920-7937-0C94-9885-C810CB700061}"/>
              </a:ext>
            </a:extLst>
          </p:cNvPr>
          <p:cNvCxnSpPr/>
          <p:nvPr/>
        </p:nvCxnSpPr>
        <p:spPr>
          <a:xfrm>
            <a:off x="9410700" y="2184400"/>
            <a:ext cx="355600" cy="0"/>
          </a:xfrm>
          <a:prstGeom prst="line">
            <a:avLst/>
          </a:prstGeom>
          <a:ln w="2794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83166E8-3B78-5517-10CC-269D2212FB03}"/>
              </a:ext>
            </a:extLst>
          </p:cNvPr>
          <p:cNvSpPr/>
          <p:nvPr/>
        </p:nvSpPr>
        <p:spPr>
          <a:xfrm>
            <a:off x="9779000" y="1600200"/>
            <a:ext cx="1955800" cy="1168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E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26CF948-DCB3-91F1-50E1-A2711742D21F}"/>
              </a:ext>
            </a:extLst>
          </p:cNvPr>
          <p:cNvSpPr txBox="1"/>
          <p:nvPr/>
        </p:nvSpPr>
        <p:spPr>
          <a:xfrm>
            <a:off x="9880600" y="1828800"/>
            <a:ext cx="1752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2E8B57"/>
                </a:solidFill>
                <a:latin typeface="Aptos" panose="020B0004020202020204" pitchFamily="34" charset="0"/>
              </a:rPr>
              <a:t>Validity</a:t>
            </a:r>
            <a:endParaRPr lang="zh-CN" altLang="en-US" sz="1500" b="1">
              <a:solidFill>
                <a:srgbClr val="2E8B57"/>
              </a:solidFill>
              <a:latin typeface="Aptos" panose="020B00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D1827AE-AA04-61C9-773C-1C10DE31931C}"/>
              </a:ext>
            </a:extLst>
          </p:cNvPr>
          <p:cNvSpPr txBox="1"/>
          <p:nvPr/>
        </p:nvSpPr>
        <p:spPr>
          <a:xfrm>
            <a:off x="9880600" y="2286000"/>
            <a:ext cx="17526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Model + human study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72F37FC-1A74-37D5-CCA6-9FDDB59D67CF}"/>
              </a:ext>
            </a:extLst>
          </p:cNvPr>
          <p:cNvSpPr txBox="1"/>
          <p:nvPr/>
        </p:nvSpPr>
        <p:spPr>
          <a:xfrm>
            <a:off x="457200" y="3276600"/>
            <a:ext cx="11277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600" b="1">
                <a:solidFill>
                  <a:srgbClr val="14213D"/>
                </a:solidFill>
                <a:latin typeface="Aptos" panose="020B0004020202020204" pitchFamily="34" charset="0"/>
              </a:rPr>
              <a:t>Three design principles</a:t>
            </a:r>
            <a:endParaRPr lang="zh-CN" altLang="en-US" sz="16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A23BC6F-4930-D7AC-FAD6-6F615DC52B83}"/>
              </a:ext>
            </a:extLst>
          </p:cNvPr>
          <p:cNvSpPr/>
          <p:nvPr/>
        </p:nvSpPr>
        <p:spPr>
          <a:xfrm>
            <a:off x="457200" y="3759200"/>
            <a:ext cx="3530600" cy="152400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9C87EDF-76C7-69A8-25EF-9D16F6B0293D}"/>
              </a:ext>
            </a:extLst>
          </p:cNvPr>
          <p:cNvSpPr/>
          <p:nvPr/>
        </p:nvSpPr>
        <p:spPr>
          <a:xfrm>
            <a:off x="457200" y="3759200"/>
            <a:ext cx="76200" cy="1524000"/>
          </a:xfrm>
          <a:prstGeom prst="rect">
            <a:avLst/>
          </a:prstGeom>
          <a:solidFill>
            <a:srgbClr val="2F6B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F6B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E823047-B45F-AF37-C63E-905333F1EB35}"/>
              </a:ext>
            </a:extLst>
          </p:cNvPr>
          <p:cNvSpPr txBox="1"/>
          <p:nvPr/>
        </p:nvSpPr>
        <p:spPr>
          <a:xfrm>
            <a:off x="685800" y="3911600"/>
            <a:ext cx="3149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01  Prior traceability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8D954C0-E272-262D-FEA9-C817BF500E3E}"/>
              </a:ext>
            </a:extLst>
          </p:cNvPr>
          <p:cNvSpPr txBox="1"/>
          <p:nvPr/>
        </p:nvSpPr>
        <p:spPr>
          <a:xfrm>
            <a:off x="685800" y="4318000"/>
            <a:ext cx="31496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Semantic recipes remain linked to real user data.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274EDA54-0575-963D-C0DB-E45E27779127}"/>
              </a:ext>
            </a:extLst>
          </p:cNvPr>
          <p:cNvSpPr/>
          <p:nvPr/>
        </p:nvSpPr>
        <p:spPr>
          <a:xfrm>
            <a:off x="4330700" y="3759200"/>
            <a:ext cx="3530600" cy="1524000"/>
          </a:xfrm>
          <a:prstGeom prst="roundRect">
            <a:avLst/>
          </a:prstGeom>
          <a:solidFill>
            <a:srgbClr val="E7F8FA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B552438-4E99-1C56-C3E9-C4573EE9B89C}"/>
              </a:ext>
            </a:extLst>
          </p:cNvPr>
          <p:cNvSpPr/>
          <p:nvPr/>
        </p:nvSpPr>
        <p:spPr>
          <a:xfrm>
            <a:off x="4330700" y="3759200"/>
            <a:ext cx="76200" cy="1524000"/>
          </a:xfrm>
          <a:prstGeom prst="rect">
            <a:avLst/>
          </a:prstGeom>
          <a:solidFill>
            <a:srgbClr val="00A7B5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0A7B5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4D91DF1-65C8-3164-1E16-D95DF53B0D22}"/>
              </a:ext>
            </a:extLst>
          </p:cNvPr>
          <p:cNvSpPr txBox="1"/>
          <p:nvPr/>
        </p:nvSpPr>
        <p:spPr>
          <a:xfrm>
            <a:off x="4559300" y="3911600"/>
            <a:ext cx="3149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02  Dimension isolation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39DD8F0-1D9F-86FF-C8C7-BE076BA4A4BA}"/>
              </a:ext>
            </a:extLst>
          </p:cNvPr>
          <p:cNvSpPr txBox="1"/>
          <p:nvPr/>
        </p:nvSpPr>
        <p:spPr>
          <a:xfrm>
            <a:off x="4559300" y="4318000"/>
            <a:ext cx="31496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One primary intervention per benchmark item.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9E0AB47-36A9-F279-2242-D4817CAF0B67}"/>
              </a:ext>
            </a:extLst>
          </p:cNvPr>
          <p:cNvSpPr/>
          <p:nvPr/>
        </p:nvSpPr>
        <p:spPr>
          <a:xfrm>
            <a:off x="8204200" y="3759200"/>
            <a:ext cx="3530600" cy="1524000"/>
          </a:xfrm>
          <a:prstGeom prst="roundRect">
            <a:avLst/>
          </a:prstGeom>
          <a:solidFill>
            <a:srgbClr val="FFF2E5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7CB927D-6947-4F8B-24E2-9D5455DED0CE}"/>
              </a:ext>
            </a:extLst>
          </p:cNvPr>
          <p:cNvSpPr/>
          <p:nvPr/>
        </p:nvSpPr>
        <p:spPr>
          <a:xfrm>
            <a:off x="8204200" y="3759200"/>
            <a:ext cx="76200" cy="1524000"/>
          </a:xfrm>
          <a:prstGeom prst="rect">
            <a:avLst/>
          </a:prstGeom>
          <a:solidFill>
            <a:srgbClr val="F28C2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28C2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0CB4838-0AB8-AD1C-6FAC-8309EBDFCBA8}"/>
              </a:ext>
            </a:extLst>
          </p:cNvPr>
          <p:cNvSpPr txBox="1"/>
          <p:nvPr/>
        </p:nvSpPr>
        <p:spPr>
          <a:xfrm>
            <a:off x="8432800" y="3911600"/>
            <a:ext cx="3149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03  Structured delivery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D3D4A1F-698E-0D23-B7C9-A0C4BEA5732D}"/>
              </a:ext>
            </a:extLst>
          </p:cNvPr>
          <p:cNvSpPr txBox="1"/>
          <p:nvPr/>
        </p:nvSpPr>
        <p:spPr>
          <a:xfrm>
            <a:off x="8432800" y="4318000"/>
            <a:ext cx="31496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Evaluators consume explicit target fields.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216DE39-5AAC-D935-32DE-6A65B80F6028}"/>
              </a:ext>
            </a:extLst>
          </p:cNvPr>
          <p:cNvSpPr txBox="1"/>
          <p:nvPr/>
        </p:nvSpPr>
        <p:spPr>
          <a:xfrm>
            <a:off x="457200" y="5778500"/>
            <a:ext cx="11277600" cy="38100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D64545"/>
                </a:solidFill>
                <a:latin typeface="Aptos" panose="020B0004020202020204" pitchFamily="34" charset="0"/>
              </a:rPr>
              <a:t>Midterm status: candidate generation operational · repair/audit in progress · validity study pending</a:t>
            </a:r>
            <a:endParaRPr lang="zh-CN" altLang="en-US" sz="1100" b="1">
              <a:solidFill>
                <a:srgbClr val="D6454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189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E0A4719-1A19-A01D-8E3A-84CA335C8AFF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4213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4213D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1EBF01-BAB9-DF57-3E26-2CCCDF78F196}"/>
              </a:ext>
            </a:extLst>
          </p:cNvPr>
          <p:cNvSpPr txBox="1"/>
          <p:nvPr/>
        </p:nvSpPr>
        <p:spPr>
          <a:xfrm>
            <a:off x="406400" y="127000"/>
            <a:ext cx="9652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500" b="1">
                <a:solidFill>
                  <a:srgbClr val="FFFFFF"/>
                </a:solidFill>
                <a:latin typeface="Aptos" panose="020B0004020202020204" pitchFamily="34" charset="0"/>
              </a:rPr>
              <a:t>Phase 1 — Prior Data Preparation</a:t>
            </a:r>
            <a:endParaRPr lang="zh-CN" altLang="en-US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E6AC98-3BE4-3816-656B-5B16AF9A4585}"/>
              </a:ext>
            </a:extLst>
          </p:cNvPr>
          <p:cNvSpPr txBox="1"/>
          <p:nvPr/>
        </p:nvSpPr>
        <p:spPr>
          <a:xfrm>
            <a:off x="10096500" y="165100"/>
            <a:ext cx="1333500" cy="9233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E5EAF0"/>
                </a:solidFill>
                <a:latin typeface="Aptos" panose="020B0004020202020204" pitchFamily="34" charset="0"/>
              </a:rPr>
              <a:t>MIDTERM PROGRESS REPORT</a:t>
            </a:r>
            <a:endParaRPr lang="zh-CN" altLang="en-US" sz="800" b="1">
              <a:solidFill>
                <a:srgbClr val="E5EAF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361985-C077-7B38-FBA4-DC7107F8A6B1}"/>
              </a:ext>
            </a:extLst>
          </p:cNvPr>
          <p:cNvSpPr txBox="1"/>
          <p:nvPr/>
        </p:nvSpPr>
        <p:spPr>
          <a:xfrm>
            <a:off x="11493500" y="177800"/>
            <a:ext cx="355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2C14E"/>
                </a:solidFill>
                <a:latin typeface="Aptos" panose="020B0004020202020204" pitchFamily="34" charset="0"/>
              </a:rPr>
              <a:t>6</a:t>
            </a:r>
            <a:endParaRPr lang="zh-CN" altLang="en-US" sz="1300" b="1">
              <a:solidFill>
                <a:srgbClr val="F2C14E"/>
              </a:solidFill>
              <a:latin typeface="Aptos" panose="020B00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3DAF22F-EA32-3492-95BA-3B062448CABB}"/>
              </a:ext>
            </a:extLst>
          </p:cNvPr>
          <p:cNvCxnSpPr/>
          <p:nvPr/>
        </p:nvCxnSpPr>
        <p:spPr>
          <a:xfrm>
            <a:off x="381000" y="6502400"/>
            <a:ext cx="11430000" cy="0"/>
          </a:xfrm>
          <a:prstGeom prst="line">
            <a:avLst/>
          </a:prstGeom>
          <a:ln w="889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3B35173B-AC87-67DD-234F-46C6E74D3DC2}"/>
              </a:ext>
            </a:extLst>
          </p:cNvPr>
          <p:cNvSpPr txBox="1"/>
          <p:nvPr/>
        </p:nvSpPr>
        <p:spPr>
          <a:xfrm>
            <a:off x="406400" y="6553200"/>
            <a:ext cx="5334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800">
                <a:solidFill>
                  <a:srgbClr val="64748B"/>
                </a:solidFill>
                <a:latin typeface="Aptos" panose="020B0004020202020204" pitchFamily="34" charset="0"/>
              </a:rPr>
              <a:t>I2V-CompBench · Candidate benchmark under validation</a:t>
            </a:r>
            <a:endParaRPr lang="zh-CN" altLang="en-US" sz="8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B3E637-341A-9A9D-846A-20EE5928937D}"/>
              </a:ext>
            </a:extLst>
          </p:cNvPr>
          <p:cNvSpPr txBox="1"/>
          <p:nvPr/>
        </p:nvSpPr>
        <p:spPr>
          <a:xfrm>
            <a:off x="457200" y="965200"/>
            <a:ext cx="11277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300" b="1">
                <a:solidFill>
                  <a:srgbClr val="14213D"/>
                </a:solidFill>
                <a:latin typeface="Aptos" panose="020B0004020202020204" pitchFamily="34" charset="0"/>
              </a:rPr>
              <a:t>Upper pipeline · model-assisted parsing</a:t>
            </a:r>
            <a:endParaRPr lang="zh-CN" altLang="en-US" sz="13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5631366-4DB7-E81E-1756-BEC188B4ADE4}"/>
              </a:ext>
            </a:extLst>
          </p:cNvPr>
          <p:cNvSpPr/>
          <p:nvPr/>
        </p:nvSpPr>
        <p:spPr>
          <a:xfrm>
            <a:off x="457200" y="1397000"/>
            <a:ext cx="1879600" cy="736600"/>
          </a:xfrm>
          <a:prstGeom prst="roundRect">
            <a:avLst/>
          </a:prstGeom>
          <a:solidFill>
            <a:srgbClr val="EAF1FF"/>
          </a:solidFill>
          <a:ln w="1524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F6C0FE-005A-FE5C-1240-3FF3B563BAEE}"/>
              </a:ext>
            </a:extLst>
          </p:cNvPr>
          <p:cNvSpPr txBox="1"/>
          <p:nvPr/>
        </p:nvSpPr>
        <p:spPr>
          <a:xfrm>
            <a:off x="558800" y="1600200"/>
            <a:ext cx="16764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14213D"/>
                </a:solidFill>
                <a:latin typeface="Aptos" panose="020B0004020202020204" pitchFamily="34" charset="0"/>
              </a:rPr>
              <a:t>Scan &amp; clean</a:t>
            </a:r>
            <a:endParaRPr lang="zh-CN" altLang="en-US" sz="11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9EB496C-CAE7-F270-9206-285ACCC43716}"/>
              </a:ext>
            </a:extLst>
          </p:cNvPr>
          <p:cNvCxnSpPr/>
          <p:nvPr/>
        </p:nvCxnSpPr>
        <p:spPr>
          <a:xfrm>
            <a:off x="2349500" y="1765300"/>
            <a:ext cx="355600" cy="0"/>
          </a:xfrm>
          <a:prstGeom prst="line">
            <a:avLst/>
          </a:prstGeom>
          <a:ln w="2286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01D2E7B-8507-88FB-45B4-33ED89A19E36}"/>
              </a:ext>
            </a:extLst>
          </p:cNvPr>
          <p:cNvSpPr/>
          <p:nvPr/>
        </p:nvSpPr>
        <p:spPr>
          <a:xfrm>
            <a:off x="2717800" y="1397000"/>
            <a:ext cx="1879600" cy="736600"/>
          </a:xfrm>
          <a:prstGeom prst="roundRect">
            <a:avLst/>
          </a:prstGeom>
          <a:solidFill>
            <a:srgbClr val="EAF1FF"/>
          </a:solidFill>
          <a:ln w="1524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E4B84E2-AAD4-F76E-4ED0-54CA9EADEBC9}"/>
              </a:ext>
            </a:extLst>
          </p:cNvPr>
          <p:cNvSpPr txBox="1"/>
          <p:nvPr/>
        </p:nvSpPr>
        <p:spPr>
          <a:xfrm>
            <a:off x="2819400" y="1600200"/>
            <a:ext cx="16764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14213D"/>
                </a:solidFill>
                <a:latin typeface="Aptos" panose="020B0004020202020204" pitchFamily="34" charset="0"/>
              </a:rPr>
              <a:t>VLM visual parse</a:t>
            </a:r>
            <a:endParaRPr lang="zh-CN" altLang="en-US" sz="11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3CC56E7-925F-DCC5-59F5-A19FAFA34E4D}"/>
              </a:ext>
            </a:extLst>
          </p:cNvPr>
          <p:cNvCxnSpPr/>
          <p:nvPr/>
        </p:nvCxnSpPr>
        <p:spPr>
          <a:xfrm>
            <a:off x="4610100" y="1765300"/>
            <a:ext cx="355600" cy="0"/>
          </a:xfrm>
          <a:prstGeom prst="line">
            <a:avLst/>
          </a:prstGeom>
          <a:ln w="2286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6016B36-D803-7914-30F5-AF1566EFA866}"/>
              </a:ext>
            </a:extLst>
          </p:cNvPr>
          <p:cNvSpPr/>
          <p:nvPr/>
        </p:nvSpPr>
        <p:spPr>
          <a:xfrm>
            <a:off x="4978400" y="1397000"/>
            <a:ext cx="1879600" cy="736600"/>
          </a:xfrm>
          <a:prstGeom prst="roundRect">
            <a:avLst/>
          </a:prstGeom>
          <a:solidFill>
            <a:srgbClr val="EAF1FF"/>
          </a:solidFill>
          <a:ln w="1524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BAD81F3-0043-D95D-6136-16F89B7F57B3}"/>
              </a:ext>
            </a:extLst>
          </p:cNvPr>
          <p:cNvSpPr txBox="1"/>
          <p:nvPr/>
        </p:nvSpPr>
        <p:spPr>
          <a:xfrm>
            <a:off x="5080000" y="1600200"/>
            <a:ext cx="16764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14213D"/>
                </a:solidFill>
                <a:latin typeface="Aptos" panose="020B0004020202020204" pitchFamily="34" charset="0"/>
              </a:rPr>
              <a:t>LLM intent parse</a:t>
            </a:r>
            <a:endParaRPr lang="zh-CN" altLang="en-US" sz="11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49E82D5-1F54-BEFA-42FA-2D088EC0CF01}"/>
              </a:ext>
            </a:extLst>
          </p:cNvPr>
          <p:cNvCxnSpPr/>
          <p:nvPr/>
        </p:nvCxnSpPr>
        <p:spPr>
          <a:xfrm>
            <a:off x="6870700" y="1765300"/>
            <a:ext cx="355600" cy="0"/>
          </a:xfrm>
          <a:prstGeom prst="line">
            <a:avLst/>
          </a:prstGeom>
          <a:ln w="2286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A1EF573-7B89-8A43-2255-A25F21BC54FB}"/>
              </a:ext>
            </a:extLst>
          </p:cNvPr>
          <p:cNvSpPr/>
          <p:nvPr/>
        </p:nvSpPr>
        <p:spPr>
          <a:xfrm>
            <a:off x="7239000" y="1397000"/>
            <a:ext cx="1879600" cy="736600"/>
          </a:xfrm>
          <a:prstGeom prst="roundRect">
            <a:avLst/>
          </a:prstGeom>
          <a:solidFill>
            <a:srgbClr val="EAF1FF"/>
          </a:solidFill>
          <a:ln w="1524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EB4920-76C5-3751-6A82-DC1BB5965C60}"/>
              </a:ext>
            </a:extLst>
          </p:cNvPr>
          <p:cNvSpPr txBox="1"/>
          <p:nvPr/>
        </p:nvSpPr>
        <p:spPr>
          <a:xfrm>
            <a:off x="7340600" y="1600200"/>
            <a:ext cx="16764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14213D"/>
                </a:solidFill>
                <a:latin typeface="Aptos" panose="020B0004020202020204" pitchFamily="34" charset="0"/>
              </a:rPr>
              <a:t>Cross-modal check</a:t>
            </a:r>
            <a:endParaRPr lang="zh-CN" altLang="en-US" sz="11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2370FEE-BFBB-FF7D-C693-DFB1A65CBE27}"/>
              </a:ext>
            </a:extLst>
          </p:cNvPr>
          <p:cNvCxnSpPr/>
          <p:nvPr/>
        </p:nvCxnSpPr>
        <p:spPr>
          <a:xfrm>
            <a:off x="9131300" y="1765300"/>
            <a:ext cx="355600" cy="0"/>
          </a:xfrm>
          <a:prstGeom prst="line">
            <a:avLst/>
          </a:prstGeom>
          <a:ln w="2286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2F5626F-364F-8B81-AE81-C5B1DC068999}"/>
              </a:ext>
            </a:extLst>
          </p:cNvPr>
          <p:cNvSpPr/>
          <p:nvPr/>
        </p:nvSpPr>
        <p:spPr>
          <a:xfrm>
            <a:off x="9499600" y="1397000"/>
            <a:ext cx="1879600" cy="736600"/>
          </a:xfrm>
          <a:prstGeom prst="roundRect">
            <a:avLst/>
          </a:prstGeom>
          <a:solidFill>
            <a:srgbClr val="EAF1FF"/>
          </a:solidFill>
          <a:ln w="1524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A593834-7E7F-E537-7D60-57353D9B2BB5}"/>
              </a:ext>
            </a:extLst>
          </p:cNvPr>
          <p:cNvSpPr txBox="1"/>
          <p:nvPr/>
        </p:nvSpPr>
        <p:spPr>
          <a:xfrm>
            <a:off x="9601200" y="1600200"/>
            <a:ext cx="16764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14213D"/>
                </a:solidFill>
                <a:latin typeface="Aptos" panose="020B0004020202020204" pitchFamily="34" charset="0"/>
              </a:rPr>
              <a:t>Prior Package</a:t>
            </a:r>
            <a:endParaRPr lang="zh-CN" altLang="en-US" sz="11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1688A7A-A75E-DD5C-2934-5EA2C341DCD0}"/>
              </a:ext>
            </a:extLst>
          </p:cNvPr>
          <p:cNvSpPr txBox="1"/>
          <p:nvPr/>
        </p:nvSpPr>
        <p:spPr>
          <a:xfrm>
            <a:off x="457200" y="2514600"/>
            <a:ext cx="11277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300" b="1">
                <a:solidFill>
                  <a:srgbClr val="14213D"/>
                </a:solidFill>
                <a:latin typeface="Aptos" panose="020B0004020202020204" pitchFamily="34" charset="0"/>
              </a:rPr>
              <a:t>Lower pipeline · deterministic enhancement</a:t>
            </a:r>
            <a:endParaRPr lang="zh-CN" altLang="en-US" sz="13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7D25325-5484-1C5F-7F54-B5E8B887A92C}"/>
              </a:ext>
            </a:extLst>
          </p:cNvPr>
          <p:cNvSpPr/>
          <p:nvPr/>
        </p:nvSpPr>
        <p:spPr>
          <a:xfrm>
            <a:off x="457200" y="2946400"/>
            <a:ext cx="1524000" cy="635000"/>
          </a:xfrm>
          <a:prstGeom prst="roundRect">
            <a:avLst/>
          </a:prstGeom>
          <a:solidFill>
            <a:srgbClr val="E7F8FA"/>
          </a:solidFill>
          <a:ln w="15240">
            <a:solidFill>
              <a:srgbClr val="00A7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5B0EAA9-08AD-A153-A8CD-90B68750C958}"/>
              </a:ext>
            </a:extLst>
          </p:cNvPr>
          <p:cNvSpPr txBox="1"/>
          <p:nvPr/>
        </p:nvSpPr>
        <p:spPr>
          <a:xfrm>
            <a:off x="558800" y="3124200"/>
            <a:ext cx="1320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00A7B5"/>
                </a:solidFill>
                <a:latin typeface="Consolas" panose="020B0609020204030204" pitchFamily="49" charset="0"/>
              </a:rPr>
              <a:t>patch</a:t>
            </a:r>
            <a:endParaRPr lang="zh-CN" altLang="en-US" sz="1100" b="1">
              <a:solidFill>
                <a:srgbClr val="00A7B5"/>
              </a:solidFill>
              <a:latin typeface="Consolas" panose="020B0609020204030204" pitchFamily="49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E94A135-38A0-2C05-9257-FB0F70F0F5A6}"/>
              </a:ext>
            </a:extLst>
          </p:cNvPr>
          <p:cNvCxnSpPr/>
          <p:nvPr/>
        </p:nvCxnSpPr>
        <p:spPr>
          <a:xfrm>
            <a:off x="1993900" y="3263900"/>
            <a:ext cx="330200" cy="0"/>
          </a:xfrm>
          <a:prstGeom prst="line">
            <a:avLst/>
          </a:prstGeom>
          <a:ln w="1905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4F1924C-B688-219E-95C9-73FA646C14BF}"/>
              </a:ext>
            </a:extLst>
          </p:cNvPr>
          <p:cNvSpPr/>
          <p:nvPr/>
        </p:nvSpPr>
        <p:spPr>
          <a:xfrm>
            <a:off x="2336800" y="2946400"/>
            <a:ext cx="1524000" cy="635000"/>
          </a:xfrm>
          <a:prstGeom prst="roundRect">
            <a:avLst/>
          </a:prstGeom>
          <a:solidFill>
            <a:srgbClr val="E7F8FA"/>
          </a:solidFill>
          <a:ln w="15240">
            <a:solidFill>
              <a:srgbClr val="00A7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5815E29-1C15-7601-3A2D-CA6B7F0F4C77}"/>
              </a:ext>
            </a:extLst>
          </p:cNvPr>
          <p:cNvSpPr txBox="1"/>
          <p:nvPr/>
        </p:nvSpPr>
        <p:spPr>
          <a:xfrm>
            <a:off x="2438400" y="3124200"/>
            <a:ext cx="1320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00A7B5"/>
                </a:solidFill>
                <a:latin typeface="Consolas" panose="020B0609020204030204" pitchFamily="49" charset="0"/>
              </a:rPr>
              <a:t>align</a:t>
            </a:r>
            <a:endParaRPr lang="zh-CN" altLang="en-US" sz="1100" b="1">
              <a:solidFill>
                <a:srgbClr val="00A7B5"/>
              </a:solidFill>
              <a:latin typeface="Consolas" panose="020B0609020204030204" pitchFamily="49" charset="0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3DF1364-4487-4599-F9D3-5A0F3D67892E}"/>
              </a:ext>
            </a:extLst>
          </p:cNvPr>
          <p:cNvCxnSpPr/>
          <p:nvPr/>
        </p:nvCxnSpPr>
        <p:spPr>
          <a:xfrm>
            <a:off x="3873500" y="3263900"/>
            <a:ext cx="330200" cy="0"/>
          </a:xfrm>
          <a:prstGeom prst="line">
            <a:avLst/>
          </a:prstGeom>
          <a:ln w="1905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9BCE53C0-9F32-9C42-7010-B60A1C79FAB1}"/>
              </a:ext>
            </a:extLst>
          </p:cNvPr>
          <p:cNvSpPr/>
          <p:nvPr/>
        </p:nvSpPr>
        <p:spPr>
          <a:xfrm>
            <a:off x="4216400" y="2946400"/>
            <a:ext cx="1524000" cy="635000"/>
          </a:xfrm>
          <a:prstGeom prst="roundRect">
            <a:avLst/>
          </a:prstGeom>
          <a:solidFill>
            <a:srgbClr val="E7F8FA"/>
          </a:solidFill>
          <a:ln w="15240">
            <a:solidFill>
              <a:srgbClr val="00A7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D3C7FCB-2345-2BD6-A496-F792191FE61F}"/>
              </a:ext>
            </a:extLst>
          </p:cNvPr>
          <p:cNvSpPr txBox="1"/>
          <p:nvPr/>
        </p:nvSpPr>
        <p:spPr>
          <a:xfrm>
            <a:off x="4318000" y="3124200"/>
            <a:ext cx="1320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00A7B5"/>
                </a:solidFill>
                <a:latin typeface="Consolas" panose="020B0609020204030204" pitchFamily="49" charset="0"/>
              </a:rPr>
              <a:t>refbank</a:t>
            </a:r>
            <a:endParaRPr lang="zh-CN" altLang="en-US" sz="1100" b="1">
              <a:solidFill>
                <a:srgbClr val="00A7B5"/>
              </a:solidFill>
              <a:latin typeface="Consolas" panose="020B0609020204030204" pitchFamily="49" charset="0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19C8BDC-FE1F-35BF-DA3E-57DBECF70419}"/>
              </a:ext>
            </a:extLst>
          </p:cNvPr>
          <p:cNvCxnSpPr/>
          <p:nvPr/>
        </p:nvCxnSpPr>
        <p:spPr>
          <a:xfrm>
            <a:off x="5753100" y="3263900"/>
            <a:ext cx="330200" cy="0"/>
          </a:xfrm>
          <a:prstGeom prst="line">
            <a:avLst/>
          </a:prstGeom>
          <a:ln w="1905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5FD682D-9716-F11A-CE0A-6481F3C62A6A}"/>
              </a:ext>
            </a:extLst>
          </p:cNvPr>
          <p:cNvSpPr/>
          <p:nvPr/>
        </p:nvSpPr>
        <p:spPr>
          <a:xfrm>
            <a:off x="6096000" y="2946400"/>
            <a:ext cx="1524000" cy="635000"/>
          </a:xfrm>
          <a:prstGeom prst="roundRect">
            <a:avLst/>
          </a:prstGeom>
          <a:solidFill>
            <a:srgbClr val="E7F8FA"/>
          </a:solidFill>
          <a:ln w="15240">
            <a:solidFill>
              <a:srgbClr val="00A7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98373BD-9D31-E57D-97AA-C7A4C44D7B98}"/>
              </a:ext>
            </a:extLst>
          </p:cNvPr>
          <p:cNvSpPr txBox="1"/>
          <p:nvPr/>
        </p:nvSpPr>
        <p:spPr>
          <a:xfrm>
            <a:off x="6197600" y="3124200"/>
            <a:ext cx="1320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00A7B5"/>
                </a:solidFill>
                <a:latin typeface="Consolas" panose="020B0609020204030204" pitchFamily="49" charset="0"/>
              </a:rPr>
              <a:t>priors2</a:t>
            </a:r>
            <a:endParaRPr lang="zh-CN" altLang="en-US" sz="1100" b="1">
              <a:solidFill>
                <a:srgbClr val="00A7B5"/>
              </a:solidFill>
              <a:latin typeface="Consolas" panose="020B0609020204030204" pitchFamily="49" charset="0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F174E50-55B0-4195-FC77-8622DCBBECED}"/>
              </a:ext>
            </a:extLst>
          </p:cNvPr>
          <p:cNvCxnSpPr/>
          <p:nvPr/>
        </p:nvCxnSpPr>
        <p:spPr>
          <a:xfrm>
            <a:off x="7632700" y="3263900"/>
            <a:ext cx="330200" cy="0"/>
          </a:xfrm>
          <a:prstGeom prst="line">
            <a:avLst/>
          </a:prstGeom>
          <a:ln w="1905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7D6B6BA-EF70-BDD8-F2B8-CD6FCBEA845C}"/>
              </a:ext>
            </a:extLst>
          </p:cNvPr>
          <p:cNvSpPr/>
          <p:nvPr/>
        </p:nvSpPr>
        <p:spPr>
          <a:xfrm>
            <a:off x="7975600" y="2946400"/>
            <a:ext cx="1524000" cy="635000"/>
          </a:xfrm>
          <a:prstGeom prst="roundRect">
            <a:avLst/>
          </a:prstGeom>
          <a:solidFill>
            <a:srgbClr val="E7F8FA"/>
          </a:solidFill>
          <a:ln w="15240">
            <a:solidFill>
              <a:srgbClr val="00A7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260AD7E-C35D-D37E-ECFF-5DC892DC44A1}"/>
              </a:ext>
            </a:extLst>
          </p:cNvPr>
          <p:cNvSpPr txBox="1"/>
          <p:nvPr/>
        </p:nvSpPr>
        <p:spPr>
          <a:xfrm>
            <a:off x="8077200" y="3124200"/>
            <a:ext cx="1320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00A7B5"/>
                </a:solidFill>
                <a:latin typeface="Consolas" panose="020B0609020204030204" pitchFamily="49" charset="0"/>
              </a:rPr>
              <a:t>recipes</a:t>
            </a:r>
            <a:endParaRPr lang="zh-CN" altLang="en-US" sz="1100" b="1">
              <a:solidFill>
                <a:srgbClr val="00A7B5"/>
              </a:solidFill>
              <a:latin typeface="Consolas" panose="020B0609020204030204" pitchFamily="49" charset="0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52799A5-8A12-1195-4286-BD1BA060C016}"/>
              </a:ext>
            </a:extLst>
          </p:cNvPr>
          <p:cNvCxnSpPr/>
          <p:nvPr/>
        </p:nvCxnSpPr>
        <p:spPr>
          <a:xfrm>
            <a:off x="9512300" y="3263900"/>
            <a:ext cx="330200" cy="0"/>
          </a:xfrm>
          <a:prstGeom prst="line">
            <a:avLst/>
          </a:prstGeom>
          <a:ln w="1905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50EE0B1F-0505-2FC8-5B42-255939688005}"/>
              </a:ext>
            </a:extLst>
          </p:cNvPr>
          <p:cNvSpPr/>
          <p:nvPr/>
        </p:nvSpPr>
        <p:spPr>
          <a:xfrm>
            <a:off x="9855200" y="2946400"/>
            <a:ext cx="1524000" cy="635000"/>
          </a:xfrm>
          <a:prstGeom prst="roundRect">
            <a:avLst/>
          </a:prstGeom>
          <a:solidFill>
            <a:srgbClr val="E7F8FA"/>
          </a:solidFill>
          <a:ln w="15240">
            <a:solidFill>
              <a:srgbClr val="00A7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DBEF9DE-56E1-BA73-A8FC-3B338E23206B}"/>
              </a:ext>
            </a:extLst>
          </p:cNvPr>
          <p:cNvSpPr txBox="1"/>
          <p:nvPr/>
        </p:nvSpPr>
        <p:spPr>
          <a:xfrm>
            <a:off x="9956800" y="3124200"/>
            <a:ext cx="1320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00A7B5"/>
                </a:solidFill>
                <a:latin typeface="Consolas" panose="020B0609020204030204" pitchFamily="49" charset="0"/>
              </a:rPr>
              <a:t>audit</a:t>
            </a:r>
            <a:endParaRPr lang="zh-CN" altLang="en-US" sz="1100" b="1">
              <a:solidFill>
                <a:srgbClr val="00A7B5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54B00199-FC23-1A4F-32F0-AAD6AE194AEA}"/>
              </a:ext>
            </a:extLst>
          </p:cNvPr>
          <p:cNvSpPr/>
          <p:nvPr/>
        </p:nvSpPr>
        <p:spPr>
          <a:xfrm>
            <a:off x="457200" y="4089400"/>
            <a:ext cx="3556000" cy="1422400"/>
          </a:xfrm>
          <a:prstGeom prst="roundRect">
            <a:avLst/>
          </a:prstGeom>
          <a:solidFill>
            <a:srgbClr val="EAF7F0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951C4BA-E5BA-D916-E4C5-730C7A510315}"/>
              </a:ext>
            </a:extLst>
          </p:cNvPr>
          <p:cNvSpPr/>
          <p:nvPr/>
        </p:nvSpPr>
        <p:spPr>
          <a:xfrm>
            <a:off x="457200" y="4089400"/>
            <a:ext cx="76200" cy="1422400"/>
          </a:xfrm>
          <a:prstGeom prst="rect">
            <a:avLst/>
          </a:prstGeom>
          <a:solidFill>
            <a:srgbClr val="2E8B57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E8B57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8AC1D89-DD4A-1CFC-52D9-8997B442ED20}"/>
              </a:ext>
            </a:extLst>
          </p:cNvPr>
          <p:cNvSpPr txBox="1"/>
          <p:nvPr/>
        </p:nvSpPr>
        <p:spPr>
          <a:xfrm>
            <a:off x="685800" y="4241800"/>
            <a:ext cx="3175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Reproducibility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9091719-69BB-8A7A-DB72-E10F58D546CE}"/>
              </a:ext>
            </a:extLst>
          </p:cNvPr>
          <p:cNvSpPr txBox="1"/>
          <p:nvPr/>
        </p:nvSpPr>
        <p:spPr>
          <a:xfrm>
            <a:off x="685800" y="4648200"/>
            <a:ext cx="3175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Zero additional API calls
Deterministic · idempotent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71F72883-41AF-66C8-0DF4-29F2D4CA8ADB}"/>
              </a:ext>
            </a:extLst>
          </p:cNvPr>
          <p:cNvSpPr/>
          <p:nvPr/>
        </p:nvSpPr>
        <p:spPr>
          <a:xfrm>
            <a:off x="4318000" y="4089400"/>
            <a:ext cx="3556000" cy="142240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9492D01-DE8C-9C1F-AF02-DC7A0B4A10E6}"/>
              </a:ext>
            </a:extLst>
          </p:cNvPr>
          <p:cNvSpPr/>
          <p:nvPr/>
        </p:nvSpPr>
        <p:spPr>
          <a:xfrm>
            <a:off x="4318000" y="4089400"/>
            <a:ext cx="76200" cy="1422400"/>
          </a:xfrm>
          <a:prstGeom prst="rect">
            <a:avLst/>
          </a:prstGeom>
          <a:solidFill>
            <a:srgbClr val="2F6B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F6B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220AD49-29DC-EA79-4A9C-E8D1E683C307}"/>
              </a:ext>
            </a:extLst>
          </p:cNvPr>
          <p:cNvSpPr txBox="1"/>
          <p:nvPr/>
        </p:nvSpPr>
        <p:spPr>
          <a:xfrm>
            <a:off x="4546600" y="4241800"/>
            <a:ext cx="3175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Instance matching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35E24AA-995F-7D99-FB0C-A757091AF49B}"/>
              </a:ext>
            </a:extLst>
          </p:cNvPr>
          <p:cNvSpPr txBox="1"/>
          <p:nvPr/>
        </p:nvSpPr>
        <p:spPr>
          <a:xfrm>
            <a:off x="4546600" y="4648200"/>
            <a:ext cx="3175000" cy="9233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Exact = 1.0
Substring = 0.7
Unmatched = 0.0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8A64472-531C-2311-0BD9-75467946ADFD}"/>
              </a:ext>
            </a:extLst>
          </p:cNvPr>
          <p:cNvSpPr/>
          <p:nvPr/>
        </p:nvSpPr>
        <p:spPr>
          <a:xfrm>
            <a:off x="8178800" y="4089400"/>
            <a:ext cx="3556000" cy="1422400"/>
          </a:xfrm>
          <a:prstGeom prst="roundRect">
            <a:avLst/>
          </a:prstGeom>
          <a:solidFill>
            <a:srgbClr val="FFF2E5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7726407-9FC5-0D2F-B151-A8C3D8D8113C}"/>
              </a:ext>
            </a:extLst>
          </p:cNvPr>
          <p:cNvSpPr/>
          <p:nvPr/>
        </p:nvSpPr>
        <p:spPr>
          <a:xfrm>
            <a:off x="8178800" y="4089400"/>
            <a:ext cx="76200" cy="1422400"/>
          </a:xfrm>
          <a:prstGeom prst="rect">
            <a:avLst/>
          </a:prstGeom>
          <a:solidFill>
            <a:srgbClr val="F28C2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28C2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A10693A-0121-6E1D-D2A9-8000A6E8CE58}"/>
              </a:ext>
            </a:extLst>
          </p:cNvPr>
          <p:cNvSpPr txBox="1"/>
          <p:nvPr/>
        </p:nvSpPr>
        <p:spPr>
          <a:xfrm>
            <a:off x="8407400" y="4241800"/>
            <a:ext cx="3175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Quality gate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EA99D29-B451-CA07-036C-41A74405D597}"/>
              </a:ext>
            </a:extLst>
          </p:cNvPr>
          <p:cNvSpPr txBox="1"/>
          <p:nvPr/>
        </p:nvSpPr>
        <p:spPr>
          <a:xfrm>
            <a:off x="8407400" y="4648200"/>
            <a:ext cx="3175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Low-confidence alignment
→ review or reject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154B265-BD89-76DF-E388-CE858FE248D8}"/>
              </a:ext>
            </a:extLst>
          </p:cNvPr>
          <p:cNvSpPr txBox="1"/>
          <p:nvPr/>
        </p:nvSpPr>
        <p:spPr>
          <a:xfrm>
            <a:off x="457200" y="5867400"/>
            <a:ext cx="11277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Constraint note: “zero API” applies to enhancement modules, not to upstream VLM/LLM parsing.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577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862927F-B0D0-A887-EB3D-1CDC517466FD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4213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4213D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854281-D3A5-24ED-4B47-9914E628D0A5}"/>
              </a:ext>
            </a:extLst>
          </p:cNvPr>
          <p:cNvSpPr txBox="1"/>
          <p:nvPr/>
        </p:nvSpPr>
        <p:spPr>
          <a:xfrm>
            <a:off x="406400" y="127000"/>
            <a:ext cx="9652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500" b="1">
                <a:solidFill>
                  <a:srgbClr val="FFFFFF"/>
                </a:solidFill>
                <a:latin typeface="Aptos" panose="020B0004020202020204" pitchFamily="34" charset="0"/>
              </a:rPr>
              <a:t>Phase 2 — Dataset Synthesis</a:t>
            </a:r>
            <a:endParaRPr lang="zh-CN" altLang="en-US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770734-CC4C-AB17-4737-25622BF3BCDC}"/>
              </a:ext>
            </a:extLst>
          </p:cNvPr>
          <p:cNvSpPr txBox="1"/>
          <p:nvPr/>
        </p:nvSpPr>
        <p:spPr>
          <a:xfrm>
            <a:off x="10096500" y="165100"/>
            <a:ext cx="1333500" cy="9233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E5EAF0"/>
                </a:solidFill>
                <a:latin typeface="Aptos" panose="020B0004020202020204" pitchFamily="34" charset="0"/>
              </a:rPr>
              <a:t>MIDTERM PROGRESS REPORT</a:t>
            </a:r>
            <a:endParaRPr lang="zh-CN" altLang="en-US" sz="800" b="1">
              <a:solidFill>
                <a:srgbClr val="E5EAF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E4B3B1-D1BD-A329-9588-3E49960B2535}"/>
              </a:ext>
            </a:extLst>
          </p:cNvPr>
          <p:cNvSpPr txBox="1"/>
          <p:nvPr/>
        </p:nvSpPr>
        <p:spPr>
          <a:xfrm>
            <a:off x="11493500" y="177800"/>
            <a:ext cx="355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2C14E"/>
                </a:solidFill>
                <a:latin typeface="Aptos" panose="020B0004020202020204" pitchFamily="34" charset="0"/>
              </a:rPr>
              <a:t>7</a:t>
            </a:r>
            <a:endParaRPr lang="zh-CN" altLang="en-US" sz="1300" b="1">
              <a:solidFill>
                <a:srgbClr val="F2C14E"/>
              </a:solidFill>
              <a:latin typeface="Aptos" panose="020B00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3317C1B-9D87-725B-A6D1-B56A25FEAC59}"/>
              </a:ext>
            </a:extLst>
          </p:cNvPr>
          <p:cNvCxnSpPr/>
          <p:nvPr/>
        </p:nvCxnSpPr>
        <p:spPr>
          <a:xfrm>
            <a:off x="381000" y="6502400"/>
            <a:ext cx="11430000" cy="0"/>
          </a:xfrm>
          <a:prstGeom prst="line">
            <a:avLst/>
          </a:prstGeom>
          <a:ln w="889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9C847300-64AC-FD28-EDBA-FEC3EABFD081}"/>
              </a:ext>
            </a:extLst>
          </p:cNvPr>
          <p:cNvSpPr txBox="1"/>
          <p:nvPr/>
        </p:nvSpPr>
        <p:spPr>
          <a:xfrm>
            <a:off x="406400" y="6553200"/>
            <a:ext cx="5334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800">
                <a:solidFill>
                  <a:srgbClr val="64748B"/>
                </a:solidFill>
                <a:latin typeface="Aptos" panose="020B0004020202020204" pitchFamily="34" charset="0"/>
              </a:rPr>
              <a:t>I2V-CompBench · Candidate benchmark under validation</a:t>
            </a:r>
            <a:endParaRPr lang="zh-CN" altLang="en-US" sz="8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F32EE80-4D9D-EFF3-D158-469D305B689F}"/>
              </a:ext>
            </a:extLst>
          </p:cNvPr>
          <p:cNvSpPr/>
          <p:nvPr/>
        </p:nvSpPr>
        <p:spPr>
          <a:xfrm>
            <a:off x="330200" y="1270000"/>
            <a:ext cx="1168400" cy="609600"/>
          </a:xfrm>
          <a:prstGeom prst="roundRect">
            <a:avLst/>
          </a:prstGeom>
          <a:solidFill>
            <a:srgbClr val="EAF1FF"/>
          </a:solidFill>
          <a:ln w="1397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140872-FEED-ABEC-6D79-F50F71D2D0D1}"/>
              </a:ext>
            </a:extLst>
          </p:cNvPr>
          <p:cNvSpPr txBox="1"/>
          <p:nvPr/>
        </p:nvSpPr>
        <p:spPr>
          <a:xfrm>
            <a:off x="381000" y="1435100"/>
            <a:ext cx="106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 b="1">
                <a:solidFill>
                  <a:srgbClr val="64748B"/>
                </a:solidFill>
                <a:latin typeface="Aptos" panose="020B0004020202020204" pitchFamily="34" charset="0"/>
              </a:rPr>
              <a:t>01</a:t>
            </a:r>
            <a:endParaRPr lang="zh-CN" altLang="en-US" sz="9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B9F7E4-2A50-C37A-6444-7F1851575930}"/>
              </a:ext>
            </a:extLst>
          </p:cNvPr>
          <p:cNvSpPr txBox="1"/>
          <p:nvPr/>
        </p:nvSpPr>
        <p:spPr>
          <a:xfrm>
            <a:off x="381000" y="1625600"/>
            <a:ext cx="106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213D"/>
                </a:solidFill>
                <a:latin typeface="Aptos" panose="020B0004020202020204" pitchFamily="34" charset="0"/>
              </a:rPr>
              <a:t>Quota</a:t>
            </a:r>
            <a:endParaRPr lang="zh-CN" altLang="en-US" sz="10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A745479-674A-3AF1-8930-D28396D7A532}"/>
              </a:ext>
            </a:extLst>
          </p:cNvPr>
          <p:cNvCxnSpPr/>
          <p:nvPr/>
        </p:nvCxnSpPr>
        <p:spPr>
          <a:xfrm>
            <a:off x="1511300" y="1574800"/>
            <a:ext cx="279400" cy="0"/>
          </a:xfrm>
          <a:prstGeom prst="line">
            <a:avLst/>
          </a:prstGeom>
          <a:ln w="1778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659814C-26CF-E41C-7FC0-3E9A0F78D2BA}"/>
              </a:ext>
            </a:extLst>
          </p:cNvPr>
          <p:cNvSpPr/>
          <p:nvPr/>
        </p:nvSpPr>
        <p:spPr>
          <a:xfrm>
            <a:off x="1803400" y="1270000"/>
            <a:ext cx="1168400" cy="609600"/>
          </a:xfrm>
          <a:prstGeom prst="roundRect">
            <a:avLst/>
          </a:prstGeom>
          <a:solidFill>
            <a:srgbClr val="EAF1FF"/>
          </a:solidFill>
          <a:ln w="1397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DD8A85-C7CA-1CBA-B732-EF718E21FF19}"/>
              </a:ext>
            </a:extLst>
          </p:cNvPr>
          <p:cNvSpPr txBox="1"/>
          <p:nvPr/>
        </p:nvSpPr>
        <p:spPr>
          <a:xfrm>
            <a:off x="1854200" y="1435100"/>
            <a:ext cx="106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 b="1">
                <a:solidFill>
                  <a:srgbClr val="64748B"/>
                </a:solidFill>
                <a:latin typeface="Aptos" panose="020B0004020202020204" pitchFamily="34" charset="0"/>
              </a:rPr>
              <a:t>02</a:t>
            </a:r>
            <a:endParaRPr lang="zh-CN" altLang="en-US" sz="9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03F75B-2CFA-A232-B883-FE9072465540}"/>
              </a:ext>
            </a:extLst>
          </p:cNvPr>
          <p:cNvSpPr txBox="1"/>
          <p:nvPr/>
        </p:nvSpPr>
        <p:spPr>
          <a:xfrm>
            <a:off x="1854200" y="1625600"/>
            <a:ext cx="106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213D"/>
                </a:solidFill>
                <a:latin typeface="Aptos" panose="020B0004020202020204" pitchFamily="34" charset="0"/>
              </a:rPr>
              <a:t>Sample</a:t>
            </a:r>
            <a:endParaRPr lang="zh-CN" altLang="en-US" sz="10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EDEBD3E-7775-818D-FC5A-4C764D0114C4}"/>
              </a:ext>
            </a:extLst>
          </p:cNvPr>
          <p:cNvCxnSpPr/>
          <p:nvPr/>
        </p:nvCxnSpPr>
        <p:spPr>
          <a:xfrm>
            <a:off x="2984500" y="1574800"/>
            <a:ext cx="279400" cy="0"/>
          </a:xfrm>
          <a:prstGeom prst="line">
            <a:avLst/>
          </a:prstGeom>
          <a:ln w="1778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31C83EB-0AF3-CD4C-A0CB-44321693739E}"/>
              </a:ext>
            </a:extLst>
          </p:cNvPr>
          <p:cNvSpPr/>
          <p:nvPr/>
        </p:nvSpPr>
        <p:spPr>
          <a:xfrm>
            <a:off x="3276600" y="1270000"/>
            <a:ext cx="1168400" cy="609600"/>
          </a:xfrm>
          <a:prstGeom prst="roundRect">
            <a:avLst/>
          </a:prstGeom>
          <a:solidFill>
            <a:srgbClr val="EAF1FF"/>
          </a:solidFill>
          <a:ln w="1397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F221005-72AF-6833-5FF0-FE85780CC175}"/>
              </a:ext>
            </a:extLst>
          </p:cNvPr>
          <p:cNvSpPr txBox="1"/>
          <p:nvPr/>
        </p:nvSpPr>
        <p:spPr>
          <a:xfrm>
            <a:off x="3327400" y="1435100"/>
            <a:ext cx="106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 b="1">
                <a:solidFill>
                  <a:srgbClr val="64748B"/>
                </a:solidFill>
                <a:latin typeface="Aptos" panose="020B0004020202020204" pitchFamily="34" charset="0"/>
              </a:rPr>
              <a:t>03</a:t>
            </a:r>
            <a:endParaRPr lang="zh-CN" altLang="en-US" sz="9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9666909-60B9-922E-475B-21CC2262D642}"/>
              </a:ext>
            </a:extLst>
          </p:cNvPr>
          <p:cNvSpPr txBox="1"/>
          <p:nvPr/>
        </p:nvSpPr>
        <p:spPr>
          <a:xfrm>
            <a:off x="3327400" y="1625600"/>
            <a:ext cx="106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213D"/>
                </a:solidFill>
                <a:latin typeface="Aptos" panose="020B0004020202020204" pitchFamily="34" charset="0"/>
              </a:rPr>
              <a:t>Plan</a:t>
            </a:r>
            <a:endParaRPr lang="zh-CN" altLang="en-US" sz="10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76DCBD5-AD93-6852-24AF-AA9E02F70845}"/>
              </a:ext>
            </a:extLst>
          </p:cNvPr>
          <p:cNvCxnSpPr/>
          <p:nvPr/>
        </p:nvCxnSpPr>
        <p:spPr>
          <a:xfrm>
            <a:off x="4457700" y="1574800"/>
            <a:ext cx="279400" cy="0"/>
          </a:xfrm>
          <a:prstGeom prst="line">
            <a:avLst/>
          </a:prstGeom>
          <a:ln w="1778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A6BA935-23CF-588B-1AF3-A34719E6271C}"/>
              </a:ext>
            </a:extLst>
          </p:cNvPr>
          <p:cNvSpPr/>
          <p:nvPr/>
        </p:nvSpPr>
        <p:spPr>
          <a:xfrm>
            <a:off x="4749800" y="1270000"/>
            <a:ext cx="1168400" cy="609600"/>
          </a:xfrm>
          <a:prstGeom prst="roundRect">
            <a:avLst/>
          </a:prstGeom>
          <a:solidFill>
            <a:srgbClr val="EAF1FF"/>
          </a:solidFill>
          <a:ln w="1397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17332A1-51FF-03FA-78E4-F833F489CC8E}"/>
              </a:ext>
            </a:extLst>
          </p:cNvPr>
          <p:cNvSpPr txBox="1"/>
          <p:nvPr/>
        </p:nvSpPr>
        <p:spPr>
          <a:xfrm>
            <a:off x="4800600" y="1435100"/>
            <a:ext cx="106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 b="1">
                <a:solidFill>
                  <a:srgbClr val="64748B"/>
                </a:solidFill>
                <a:latin typeface="Aptos" panose="020B0004020202020204" pitchFamily="34" charset="0"/>
              </a:rPr>
              <a:t>04</a:t>
            </a:r>
            <a:endParaRPr lang="zh-CN" altLang="en-US" sz="9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C95CE37-A377-FDA3-3A19-B332FF03B767}"/>
              </a:ext>
            </a:extLst>
          </p:cNvPr>
          <p:cNvSpPr txBox="1"/>
          <p:nvPr/>
        </p:nvSpPr>
        <p:spPr>
          <a:xfrm>
            <a:off x="4800600" y="1625600"/>
            <a:ext cx="10668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213D"/>
                </a:solidFill>
                <a:latin typeface="Aptos" panose="020B0004020202020204" pitchFamily="34" charset="0"/>
              </a:rPr>
              <a:t>Construct</a:t>
            </a:r>
            <a:endParaRPr lang="zh-CN" altLang="en-US" sz="10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EF177FF-9A60-F4E3-BB69-D397244CC7A6}"/>
              </a:ext>
            </a:extLst>
          </p:cNvPr>
          <p:cNvCxnSpPr/>
          <p:nvPr/>
        </p:nvCxnSpPr>
        <p:spPr>
          <a:xfrm>
            <a:off x="5930900" y="1574800"/>
            <a:ext cx="279400" cy="0"/>
          </a:xfrm>
          <a:prstGeom prst="line">
            <a:avLst/>
          </a:prstGeom>
          <a:ln w="1778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7A75024-421B-4095-1456-3019EEEDD973}"/>
              </a:ext>
            </a:extLst>
          </p:cNvPr>
          <p:cNvSpPr/>
          <p:nvPr/>
        </p:nvSpPr>
        <p:spPr>
          <a:xfrm>
            <a:off x="6223000" y="1270000"/>
            <a:ext cx="1168400" cy="609600"/>
          </a:xfrm>
          <a:prstGeom prst="roundRect">
            <a:avLst/>
          </a:prstGeom>
          <a:solidFill>
            <a:srgbClr val="EAF1FF"/>
          </a:solidFill>
          <a:ln w="1397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046DD3D-B7AE-B122-EA72-BCA202FA0E3E}"/>
              </a:ext>
            </a:extLst>
          </p:cNvPr>
          <p:cNvSpPr txBox="1"/>
          <p:nvPr/>
        </p:nvSpPr>
        <p:spPr>
          <a:xfrm>
            <a:off x="6273800" y="1435100"/>
            <a:ext cx="106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 b="1">
                <a:solidFill>
                  <a:srgbClr val="64748B"/>
                </a:solidFill>
                <a:latin typeface="Aptos" panose="020B0004020202020204" pitchFamily="34" charset="0"/>
              </a:rPr>
              <a:t>05</a:t>
            </a:r>
            <a:endParaRPr lang="zh-CN" altLang="en-US" sz="9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6E1321A-0078-D919-112C-747321513A4C}"/>
              </a:ext>
            </a:extLst>
          </p:cNvPr>
          <p:cNvSpPr txBox="1"/>
          <p:nvPr/>
        </p:nvSpPr>
        <p:spPr>
          <a:xfrm>
            <a:off x="6273800" y="1625600"/>
            <a:ext cx="106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213D"/>
                </a:solidFill>
                <a:latin typeface="Aptos" panose="020B0004020202020204" pitchFamily="34" charset="0"/>
              </a:rPr>
              <a:t>Verify</a:t>
            </a:r>
            <a:endParaRPr lang="zh-CN" altLang="en-US" sz="10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43093D3-5692-0886-03BE-04B77F9F8E6C}"/>
              </a:ext>
            </a:extLst>
          </p:cNvPr>
          <p:cNvCxnSpPr/>
          <p:nvPr/>
        </p:nvCxnSpPr>
        <p:spPr>
          <a:xfrm>
            <a:off x="7404100" y="1574800"/>
            <a:ext cx="279400" cy="0"/>
          </a:xfrm>
          <a:prstGeom prst="line">
            <a:avLst/>
          </a:prstGeom>
          <a:ln w="1778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F2B3B55-628C-2252-DE90-DDD7434403BC}"/>
              </a:ext>
            </a:extLst>
          </p:cNvPr>
          <p:cNvSpPr/>
          <p:nvPr/>
        </p:nvSpPr>
        <p:spPr>
          <a:xfrm>
            <a:off x="7696200" y="1270000"/>
            <a:ext cx="1168400" cy="609600"/>
          </a:xfrm>
          <a:prstGeom prst="roundRect">
            <a:avLst/>
          </a:prstGeom>
          <a:solidFill>
            <a:srgbClr val="EAF1FF"/>
          </a:solidFill>
          <a:ln w="1397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442316E-CF6A-7398-22BC-8FFDA27B5911}"/>
              </a:ext>
            </a:extLst>
          </p:cNvPr>
          <p:cNvSpPr txBox="1"/>
          <p:nvPr/>
        </p:nvSpPr>
        <p:spPr>
          <a:xfrm>
            <a:off x="7747000" y="1435100"/>
            <a:ext cx="106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 b="1">
                <a:solidFill>
                  <a:srgbClr val="64748B"/>
                </a:solidFill>
                <a:latin typeface="Aptos" panose="020B0004020202020204" pitchFamily="34" charset="0"/>
              </a:rPr>
              <a:t>06</a:t>
            </a:r>
            <a:endParaRPr lang="zh-CN" altLang="en-US" sz="9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5DE3B6B-BD2E-ED8C-F624-69675E2A03F1}"/>
              </a:ext>
            </a:extLst>
          </p:cNvPr>
          <p:cNvSpPr txBox="1"/>
          <p:nvPr/>
        </p:nvSpPr>
        <p:spPr>
          <a:xfrm>
            <a:off x="7747000" y="1625600"/>
            <a:ext cx="106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213D"/>
                </a:solidFill>
                <a:latin typeface="Aptos" panose="020B0004020202020204" pitchFamily="34" charset="0"/>
              </a:rPr>
              <a:t>Finalize</a:t>
            </a:r>
            <a:endParaRPr lang="zh-CN" altLang="en-US" sz="10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DF9E835-39C0-A519-922C-C20670BB6011}"/>
              </a:ext>
            </a:extLst>
          </p:cNvPr>
          <p:cNvCxnSpPr/>
          <p:nvPr/>
        </p:nvCxnSpPr>
        <p:spPr>
          <a:xfrm>
            <a:off x="8877300" y="1574800"/>
            <a:ext cx="279400" cy="0"/>
          </a:xfrm>
          <a:prstGeom prst="line">
            <a:avLst/>
          </a:prstGeom>
          <a:ln w="1778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623A7CA0-D6E6-F22F-63C1-27CA1D13B911}"/>
              </a:ext>
            </a:extLst>
          </p:cNvPr>
          <p:cNvSpPr/>
          <p:nvPr/>
        </p:nvSpPr>
        <p:spPr>
          <a:xfrm>
            <a:off x="9169400" y="1270000"/>
            <a:ext cx="1168400" cy="609600"/>
          </a:xfrm>
          <a:prstGeom prst="roundRect">
            <a:avLst/>
          </a:prstGeom>
          <a:solidFill>
            <a:srgbClr val="EAF1FF"/>
          </a:solidFill>
          <a:ln w="1397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2A3CA0B-1C36-66D3-24B9-FC3D6D71972A}"/>
              </a:ext>
            </a:extLst>
          </p:cNvPr>
          <p:cNvSpPr txBox="1"/>
          <p:nvPr/>
        </p:nvSpPr>
        <p:spPr>
          <a:xfrm>
            <a:off x="9220200" y="1435100"/>
            <a:ext cx="106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 b="1">
                <a:solidFill>
                  <a:srgbClr val="64748B"/>
                </a:solidFill>
                <a:latin typeface="Aptos" panose="020B0004020202020204" pitchFamily="34" charset="0"/>
              </a:rPr>
              <a:t>07</a:t>
            </a:r>
            <a:endParaRPr lang="zh-CN" altLang="en-US" sz="9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798129C-A53A-8AA5-096B-CF53BAEF960E}"/>
              </a:ext>
            </a:extLst>
          </p:cNvPr>
          <p:cNvSpPr txBox="1"/>
          <p:nvPr/>
        </p:nvSpPr>
        <p:spPr>
          <a:xfrm>
            <a:off x="9220200" y="1625600"/>
            <a:ext cx="106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213D"/>
                </a:solidFill>
                <a:latin typeface="Aptos" panose="020B0004020202020204" pitchFamily="34" charset="0"/>
              </a:rPr>
              <a:t>Export</a:t>
            </a:r>
            <a:endParaRPr lang="zh-CN" altLang="en-US" sz="10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CA4C019-C1F7-4CAA-C343-2423FA46FC40}"/>
              </a:ext>
            </a:extLst>
          </p:cNvPr>
          <p:cNvCxnSpPr/>
          <p:nvPr/>
        </p:nvCxnSpPr>
        <p:spPr>
          <a:xfrm>
            <a:off x="10350500" y="1574800"/>
            <a:ext cx="279400" cy="0"/>
          </a:xfrm>
          <a:prstGeom prst="line">
            <a:avLst/>
          </a:prstGeom>
          <a:ln w="1778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004D19B-E60D-3D11-E77F-82077C9C4FC7}"/>
              </a:ext>
            </a:extLst>
          </p:cNvPr>
          <p:cNvSpPr/>
          <p:nvPr/>
        </p:nvSpPr>
        <p:spPr>
          <a:xfrm>
            <a:off x="10642600" y="1270000"/>
            <a:ext cx="1168400" cy="609600"/>
          </a:xfrm>
          <a:prstGeom prst="roundRect">
            <a:avLst/>
          </a:prstGeom>
          <a:solidFill>
            <a:srgbClr val="EAF1FF"/>
          </a:solidFill>
          <a:ln w="1397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0D4FC09-CDFE-2C2D-DB53-704E37E84675}"/>
              </a:ext>
            </a:extLst>
          </p:cNvPr>
          <p:cNvSpPr txBox="1"/>
          <p:nvPr/>
        </p:nvSpPr>
        <p:spPr>
          <a:xfrm>
            <a:off x="10693400" y="1435100"/>
            <a:ext cx="106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 b="1">
                <a:solidFill>
                  <a:srgbClr val="64748B"/>
                </a:solidFill>
                <a:latin typeface="Aptos" panose="020B0004020202020204" pitchFamily="34" charset="0"/>
              </a:rPr>
              <a:t>08</a:t>
            </a:r>
            <a:endParaRPr lang="zh-CN" altLang="en-US" sz="9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6A233A4-2EAD-3036-C6D1-0820D11FB4AF}"/>
              </a:ext>
            </a:extLst>
          </p:cNvPr>
          <p:cNvSpPr txBox="1"/>
          <p:nvPr/>
        </p:nvSpPr>
        <p:spPr>
          <a:xfrm>
            <a:off x="10693400" y="1625600"/>
            <a:ext cx="106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14213D"/>
                </a:solidFill>
                <a:latin typeface="Aptos" panose="020B0004020202020204" pitchFamily="34" charset="0"/>
              </a:rPr>
              <a:t>Audit</a:t>
            </a:r>
            <a:endParaRPr lang="zh-CN" altLang="en-US" sz="10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C68833F7-1B47-5637-EF90-E7159BC878DF}"/>
              </a:ext>
            </a:extLst>
          </p:cNvPr>
          <p:cNvSpPr/>
          <p:nvPr/>
        </p:nvSpPr>
        <p:spPr>
          <a:xfrm>
            <a:off x="431800" y="2413000"/>
            <a:ext cx="3505200" cy="154940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BD40598-625D-8187-9680-50D848D45380}"/>
              </a:ext>
            </a:extLst>
          </p:cNvPr>
          <p:cNvSpPr/>
          <p:nvPr/>
        </p:nvSpPr>
        <p:spPr>
          <a:xfrm>
            <a:off x="431800" y="2413000"/>
            <a:ext cx="76200" cy="1549400"/>
          </a:xfrm>
          <a:prstGeom prst="rect">
            <a:avLst/>
          </a:prstGeom>
          <a:solidFill>
            <a:srgbClr val="2F6B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F6B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5A062E5-6590-0C07-FC72-D523BF62E7B4}"/>
              </a:ext>
            </a:extLst>
          </p:cNvPr>
          <p:cNvSpPr txBox="1"/>
          <p:nvPr/>
        </p:nvSpPr>
        <p:spPr>
          <a:xfrm>
            <a:off x="660400" y="2565400"/>
            <a:ext cx="31242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Exact integer quotas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87BCC6D-3712-5F44-D138-D3B0DE5D3241}"/>
              </a:ext>
            </a:extLst>
          </p:cNvPr>
          <p:cNvSpPr txBox="1"/>
          <p:nvPr/>
        </p:nvSpPr>
        <p:spPr>
          <a:xfrm>
            <a:off x="660400" y="2971800"/>
            <a:ext cx="3124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Largest remainder method keeps the total fixed.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7B3FCF56-EE8E-AC3D-A5B6-C007AC337B39}"/>
              </a:ext>
            </a:extLst>
          </p:cNvPr>
          <p:cNvSpPr/>
          <p:nvPr/>
        </p:nvSpPr>
        <p:spPr>
          <a:xfrm>
            <a:off x="4343400" y="2413000"/>
            <a:ext cx="3505200" cy="1549400"/>
          </a:xfrm>
          <a:prstGeom prst="roundRect">
            <a:avLst/>
          </a:prstGeom>
          <a:solidFill>
            <a:srgbClr val="E7F8FA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E458A8F-C880-3202-D54F-7694D0730E4F}"/>
              </a:ext>
            </a:extLst>
          </p:cNvPr>
          <p:cNvSpPr/>
          <p:nvPr/>
        </p:nvSpPr>
        <p:spPr>
          <a:xfrm>
            <a:off x="4343400" y="2413000"/>
            <a:ext cx="76200" cy="1549400"/>
          </a:xfrm>
          <a:prstGeom prst="rect">
            <a:avLst/>
          </a:prstGeom>
          <a:solidFill>
            <a:srgbClr val="00A7B5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0A7B5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2454003-842C-F647-A6FA-93759B35AFA6}"/>
              </a:ext>
            </a:extLst>
          </p:cNvPr>
          <p:cNvSpPr txBox="1"/>
          <p:nvPr/>
        </p:nvSpPr>
        <p:spPr>
          <a:xfrm>
            <a:off x="4572000" y="2565400"/>
            <a:ext cx="31242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Traceable dual-track assets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35A9943-510E-FD72-F2EA-80992A25C50B}"/>
              </a:ext>
            </a:extLst>
          </p:cNvPr>
          <p:cNvSpPr txBox="1"/>
          <p:nvPr/>
        </p:nvSpPr>
        <p:spPr>
          <a:xfrm>
            <a:off x="4572000" y="2971800"/>
            <a:ext cx="3124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TIP-I2V source + native image + 16:9 companion.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BE32D576-5207-C841-5F89-CE1EC0217FEF}"/>
              </a:ext>
            </a:extLst>
          </p:cNvPr>
          <p:cNvSpPr/>
          <p:nvPr/>
        </p:nvSpPr>
        <p:spPr>
          <a:xfrm>
            <a:off x="8255000" y="2413000"/>
            <a:ext cx="3505200" cy="1549400"/>
          </a:xfrm>
          <a:prstGeom prst="roundRect">
            <a:avLst/>
          </a:prstGeom>
          <a:solidFill>
            <a:srgbClr val="FFF2E5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F3DFB72-2C2D-E96C-727F-39D1E45FD2AB}"/>
              </a:ext>
            </a:extLst>
          </p:cNvPr>
          <p:cNvSpPr/>
          <p:nvPr/>
        </p:nvSpPr>
        <p:spPr>
          <a:xfrm>
            <a:off x="8255000" y="2413000"/>
            <a:ext cx="76200" cy="1549400"/>
          </a:xfrm>
          <a:prstGeom prst="rect">
            <a:avLst/>
          </a:prstGeom>
          <a:solidFill>
            <a:srgbClr val="F28C2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28C2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46EA05D-2997-93D9-C250-351B4AE38AAB}"/>
              </a:ext>
            </a:extLst>
          </p:cNvPr>
          <p:cNvSpPr txBox="1"/>
          <p:nvPr/>
        </p:nvSpPr>
        <p:spPr>
          <a:xfrm>
            <a:off x="8483600" y="2565400"/>
            <a:ext cx="31242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Structured candidate checks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32B30AF-33FD-52AB-FC51-39F721703E8D}"/>
              </a:ext>
            </a:extLst>
          </p:cNvPr>
          <p:cNvSpPr txBox="1"/>
          <p:nvPr/>
        </p:nvSpPr>
        <p:spPr>
          <a:xfrm>
            <a:off x="8483600" y="2971800"/>
            <a:ext cx="3124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VQA check + prompt finalization + rule audit.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AB55FB3-B725-DB6E-6E1D-AD3D7C85FF44}"/>
              </a:ext>
            </a:extLst>
          </p:cNvPr>
          <p:cNvSpPr txBox="1"/>
          <p:nvPr/>
        </p:nvSpPr>
        <p:spPr>
          <a:xfrm>
            <a:off x="431800" y="4406900"/>
            <a:ext cx="113284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4213D"/>
                </a:solidFill>
                <a:latin typeface="Aptos" panose="020B0004020202020204" pitchFamily="34" charset="0"/>
              </a:rPr>
              <a:t>Contrastive controls</a:t>
            </a:r>
            <a:endParaRPr lang="zh-CN" altLang="en-US" sz="15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7E0553B2-5BF1-1C24-6DFE-480F3E896115}"/>
              </a:ext>
            </a:extLst>
          </p:cNvPr>
          <p:cNvSpPr/>
          <p:nvPr/>
        </p:nvSpPr>
        <p:spPr>
          <a:xfrm>
            <a:off x="431800" y="4864100"/>
            <a:ext cx="2006600" cy="584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B23447D-1AB6-E18E-BE4F-43C2021A2ABC}"/>
              </a:ext>
            </a:extLst>
          </p:cNvPr>
          <p:cNvSpPr txBox="1"/>
          <p:nvPr/>
        </p:nvSpPr>
        <p:spPr>
          <a:xfrm>
            <a:off x="508000" y="5041900"/>
            <a:ext cx="18542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64748B"/>
                </a:solidFill>
                <a:latin typeface="Consolas" panose="020B0609020204030204" pitchFamily="49" charset="0"/>
              </a:rPr>
              <a:t>static_copy</a:t>
            </a:r>
            <a:endParaRPr lang="zh-CN" altLang="en-US" sz="1000" b="1">
              <a:solidFill>
                <a:srgbClr val="64748B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09ECA345-2783-CDD1-4840-D7DD680C9CAE}"/>
              </a:ext>
            </a:extLst>
          </p:cNvPr>
          <p:cNvSpPr/>
          <p:nvPr/>
        </p:nvSpPr>
        <p:spPr>
          <a:xfrm>
            <a:off x="2692400" y="4864100"/>
            <a:ext cx="2006600" cy="584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60F6807-A209-00F1-ABA3-9B28969389F7}"/>
              </a:ext>
            </a:extLst>
          </p:cNvPr>
          <p:cNvSpPr txBox="1"/>
          <p:nvPr/>
        </p:nvSpPr>
        <p:spPr>
          <a:xfrm>
            <a:off x="2768600" y="5041900"/>
            <a:ext cx="18542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64748B"/>
                </a:solidFill>
                <a:latin typeface="Consolas" panose="020B0609020204030204" pitchFamily="49" charset="0"/>
              </a:rPr>
              <a:t>random_motion</a:t>
            </a:r>
            <a:endParaRPr lang="zh-CN" altLang="en-US" sz="1000" b="1">
              <a:solidFill>
                <a:srgbClr val="64748B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2266A3EC-4723-3C76-4618-8E3E7AB200A9}"/>
              </a:ext>
            </a:extLst>
          </p:cNvPr>
          <p:cNvSpPr/>
          <p:nvPr/>
        </p:nvSpPr>
        <p:spPr>
          <a:xfrm>
            <a:off x="4953000" y="4864100"/>
            <a:ext cx="2006600" cy="584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A779E65-27EB-FC08-F30C-82CC26E862E0}"/>
              </a:ext>
            </a:extLst>
          </p:cNvPr>
          <p:cNvSpPr txBox="1"/>
          <p:nvPr/>
        </p:nvSpPr>
        <p:spPr>
          <a:xfrm>
            <a:off x="5029200" y="5041900"/>
            <a:ext cx="18542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64748B"/>
                </a:solidFill>
                <a:latin typeface="Consolas" panose="020B0609020204030204" pitchFamily="49" charset="0"/>
              </a:rPr>
              <a:t>global_filter</a:t>
            </a:r>
            <a:endParaRPr lang="zh-CN" altLang="en-US" sz="1000" b="1">
              <a:solidFill>
                <a:srgbClr val="64748B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7E1265D9-E927-ABCA-CFF6-78D973F01851}"/>
              </a:ext>
            </a:extLst>
          </p:cNvPr>
          <p:cNvSpPr/>
          <p:nvPr/>
        </p:nvSpPr>
        <p:spPr>
          <a:xfrm>
            <a:off x="7213600" y="4864100"/>
            <a:ext cx="2006600" cy="584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E731C76-58D8-144A-7762-C5D5FD8FE55C}"/>
              </a:ext>
            </a:extLst>
          </p:cNvPr>
          <p:cNvSpPr txBox="1"/>
          <p:nvPr/>
        </p:nvSpPr>
        <p:spPr>
          <a:xfrm>
            <a:off x="7289800" y="5041900"/>
            <a:ext cx="1854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64748B"/>
                </a:solidFill>
                <a:latin typeface="Consolas" panose="020B0609020204030204" pitchFamily="49" charset="0"/>
              </a:rPr>
              <a:t>camera_pan_cheat</a:t>
            </a:r>
            <a:endParaRPr lang="zh-CN" altLang="en-US" sz="1000" b="1">
              <a:solidFill>
                <a:srgbClr val="64748B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E036CF13-74DD-134C-5749-33925C1A5BA5}"/>
              </a:ext>
            </a:extLst>
          </p:cNvPr>
          <p:cNvSpPr/>
          <p:nvPr/>
        </p:nvSpPr>
        <p:spPr>
          <a:xfrm>
            <a:off x="9474200" y="4864100"/>
            <a:ext cx="2006600" cy="584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F722899-A3E1-1143-5402-93A7208F293B}"/>
              </a:ext>
            </a:extLst>
          </p:cNvPr>
          <p:cNvSpPr txBox="1"/>
          <p:nvPr/>
        </p:nvSpPr>
        <p:spPr>
          <a:xfrm>
            <a:off x="9550400" y="5041900"/>
            <a:ext cx="18542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64748B"/>
                </a:solidFill>
                <a:latin typeface="Consolas" panose="020B0609020204030204" pitchFamily="49" charset="0"/>
              </a:rPr>
              <a:t>subject_swap</a:t>
            </a:r>
            <a:endParaRPr lang="zh-CN" altLang="en-US" sz="1000" b="1">
              <a:solidFill>
                <a:srgbClr val="64748B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44D6232-125A-0142-9A80-95610D3AFBFA}"/>
              </a:ext>
            </a:extLst>
          </p:cNvPr>
          <p:cNvSpPr txBox="1"/>
          <p:nvPr/>
        </p:nvSpPr>
        <p:spPr>
          <a:xfrm>
            <a:off x="431800" y="5816600"/>
            <a:ext cx="11328400" cy="38100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D64545"/>
                </a:solidFill>
                <a:latin typeface="Aptos" panose="020B0004020202020204" pitchFamily="34" charset="0"/>
              </a:rPr>
              <a:t>Release rule: file generation ≠ schema validity. Structural completeness is a hard gate.</a:t>
            </a:r>
            <a:endParaRPr lang="zh-CN" altLang="en-US" sz="1100" b="1">
              <a:solidFill>
                <a:srgbClr val="D6454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271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45EBBE9-20CC-631B-B9B6-848001376CFB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4213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4213D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69DF27-0D50-209F-99CF-C9C6422DE8AB}"/>
              </a:ext>
            </a:extLst>
          </p:cNvPr>
          <p:cNvSpPr txBox="1"/>
          <p:nvPr/>
        </p:nvSpPr>
        <p:spPr>
          <a:xfrm>
            <a:off x="406400" y="127000"/>
            <a:ext cx="9652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500" b="1">
                <a:solidFill>
                  <a:srgbClr val="FFFFFF"/>
                </a:solidFill>
                <a:latin typeface="Aptos" panose="020B0004020202020204" pitchFamily="34" charset="0"/>
              </a:rPr>
              <a:t>Data Funnel &amp; Current Status</a:t>
            </a:r>
            <a:endParaRPr lang="zh-CN" altLang="en-US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B7D4D8-7CA6-10B3-114D-3EB5F4739456}"/>
              </a:ext>
            </a:extLst>
          </p:cNvPr>
          <p:cNvSpPr txBox="1"/>
          <p:nvPr/>
        </p:nvSpPr>
        <p:spPr>
          <a:xfrm>
            <a:off x="10096500" y="165100"/>
            <a:ext cx="1333500" cy="9233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E5EAF0"/>
                </a:solidFill>
                <a:latin typeface="Aptos" panose="020B0004020202020204" pitchFamily="34" charset="0"/>
              </a:rPr>
              <a:t>MIDTERM PROGRESS REPORT</a:t>
            </a:r>
            <a:endParaRPr lang="zh-CN" altLang="en-US" sz="800" b="1">
              <a:solidFill>
                <a:srgbClr val="E5EAF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696795-61CA-DD47-4C28-EB672042AB80}"/>
              </a:ext>
            </a:extLst>
          </p:cNvPr>
          <p:cNvSpPr txBox="1"/>
          <p:nvPr/>
        </p:nvSpPr>
        <p:spPr>
          <a:xfrm>
            <a:off x="11493500" y="177800"/>
            <a:ext cx="355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2C14E"/>
                </a:solidFill>
                <a:latin typeface="Aptos" panose="020B0004020202020204" pitchFamily="34" charset="0"/>
              </a:rPr>
              <a:t>8</a:t>
            </a:r>
            <a:endParaRPr lang="zh-CN" altLang="en-US" sz="1300" b="1">
              <a:solidFill>
                <a:srgbClr val="F2C14E"/>
              </a:solidFill>
              <a:latin typeface="Aptos" panose="020B00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DDB70F7-B77E-835C-3002-48BA7738AB65}"/>
              </a:ext>
            </a:extLst>
          </p:cNvPr>
          <p:cNvCxnSpPr/>
          <p:nvPr/>
        </p:nvCxnSpPr>
        <p:spPr>
          <a:xfrm>
            <a:off x="381000" y="6502400"/>
            <a:ext cx="11430000" cy="0"/>
          </a:xfrm>
          <a:prstGeom prst="line">
            <a:avLst/>
          </a:prstGeom>
          <a:ln w="889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A4D4998-21B2-C1DF-8296-6F421832EEA9}"/>
              </a:ext>
            </a:extLst>
          </p:cNvPr>
          <p:cNvSpPr txBox="1"/>
          <p:nvPr/>
        </p:nvSpPr>
        <p:spPr>
          <a:xfrm>
            <a:off x="406400" y="6553200"/>
            <a:ext cx="5334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800">
                <a:solidFill>
                  <a:srgbClr val="64748B"/>
                </a:solidFill>
                <a:latin typeface="Aptos" panose="020B0004020202020204" pitchFamily="34" charset="0"/>
              </a:rPr>
              <a:t>I2V-CompBench · Candidate benchmark under validation</a:t>
            </a:r>
            <a:endParaRPr lang="zh-CN" altLang="en-US" sz="8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A58BCC1-0177-940A-D6DD-6424FBEB18AC}"/>
              </a:ext>
            </a:extLst>
          </p:cNvPr>
          <p:cNvSpPr/>
          <p:nvPr/>
        </p:nvSpPr>
        <p:spPr>
          <a:xfrm>
            <a:off x="660400" y="1193800"/>
            <a:ext cx="7112000" cy="6985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3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FD289C-AAAD-CEE1-54FF-70C85F141162}"/>
              </a:ext>
            </a:extLst>
          </p:cNvPr>
          <p:cNvSpPr txBox="1"/>
          <p:nvPr/>
        </p:nvSpPr>
        <p:spPr>
          <a:xfrm>
            <a:off x="889000" y="1308100"/>
            <a:ext cx="1397000" cy="38100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100" b="1">
                <a:solidFill>
                  <a:srgbClr val="1F3A5F"/>
                </a:solidFill>
                <a:latin typeface="Aptos" panose="020B0004020202020204" pitchFamily="34" charset="0"/>
              </a:rPr>
              <a:t>4,092</a:t>
            </a:r>
            <a:endParaRPr lang="zh-CN" altLang="en-US" sz="2100" b="1">
              <a:solidFill>
                <a:srgbClr val="1F3A5F"/>
              </a:solidFill>
              <a:latin typeface="Aptos" panose="020B00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B9DEEA-0855-78A8-5528-5A83635E6082}"/>
              </a:ext>
            </a:extLst>
          </p:cNvPr>
          <p:cNvSpPr txBox="1"/>
          <p:nvPr/>
        </p:nvSpPr>
        <p:spPr>
          <a:xfrm>
            <a:off x="2387600" y="1384300"/>
            <a:ext cx="5207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300" b="1">
                <a:solidFill>
                  <a:srgbClr val="1F2937"/>
                </a:solidFill>
                <a:latin typeface="Aptos" panose="020B0004020202020204" pitchFamily="34" charset="0"/>
              </a:rPr>
              <a:t>Question plans</a:t>
            </a:r>
            <a:endParaRPr lang="zh-CN" altLang="en-US" sz="13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44A2195-1EDD-39A3-868D-31F136DA15CC}"/>
              </a:ext>
            </a:extLst>
          </p:cNvPr>
          <p:cNvSpPr/>
          <p:nvPr/>
        </p:nvSpPr>
        <p:spPr>
          <a:xfrm>
            <a:off x="1231900" y="2159000"/>
            <a:ext cx="5969000" cy="6985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5B44DE-4082-520B-0430-F0E525198648}"/>
              </a:ext>
            </a:extLst>
          </p:cNvPr>
          <p:cNvSpPr txBox="1"/>
          <p:nvPr/>
        </p:nvSpPr>
        <p:spPr>
          <a:xfrm>
            <a:off x="1460500" y="2273300"/>
            <a:ext cx="1397000" cy="38100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100" b="1">
                <a:solidFill>
                  <a:srgbClr val="2F6BFF"/>
                </a:solidFill>
                <a:latin typeface="Aptos" panose="020B0004020202020204" pitchFamily="34" charset="0"/>
              </a:rPr>
              <a:t>3,519</a:t>
            </a:r>
            <a:endParaRPr lang="zh-CN" altLang="en-US" sz="2100" b="1">
              <a:solidFill>
                <a:srgbClr val="2F6BFF"/>
              </a:solidFill>
              <a:latin typeface="Aptos" panose="020B00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FE7592A-9454-E763-D319-A2C7DF42258C}"/>
              </a:ext>
            </a:extLst>
          </p:cNvPr>
          <p:cNvSpPr txBox="1"/>
          <p:nvPr/>
        </p:nvSpPr>
        <p:spPr>
          <a:xfrm>
            <a:off x="2959100" y="2349500"/>
            <a:ext cx="4064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300" b="1">
                <a:solidFill>
                  <a:srgbClr val="1F2937"/>
                </a:solidFill>
                <a:latin typeface="Aptos" panose="020B0004020202020204" pitchFamily="34" charset="0"/>
              </a:rPr>
              <a:t>Prompt candidates</a:t>
            </a:r>
            <a:endParaRPr lang="zh-CN" altLang="en-US" sz="13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4D97830-6E29-1776-DA17-B83BB4CB8C45}"/>
              </a:ext>
            </a:extLst>
          </p:cNvPr>
          <p:cNvSpPr/>
          <p:nvPr/>
        </p:nvSpPr>
        <p:spPr>
          <a:xfrm>
            <a:off x="1803400" y="3124200"/>
            <a:ext cx="4826000" cy="6985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A7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AE3781D-5362-6299-173A-CBE61D25670B}"/>
              </a:ext>
            </a:extLst>
          </p:cNvPr>
          <p:cNvSpPr txBox="1"/>
          <p:nvPr/>
        </p:nvSpPr>
        <p:spPr>
          <a:xfrm>
            <a:off x="2032000" y="3238500"/>
            <a:ext cx="1397000" cy="38100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100" b="1">
                <a:solidFill>
                  <a:srgbClr val="00A7B5"/>
                </a:solidFill>
                <a:latin typeface="Aptos" panose="020B0004020202020204" pitchFamily="34" charset="0"/>
              </a:rPr>
              <a:t>3,517</a:t>
            </a:r>
            <a:endParaRPr lang="zh-CN" altLang="en-US" sz="2100" b="1">
              <a:solidFill>
                <a:srgbClr val="00A7B5"/>
              </a:solidFill>
              <a:latin typeface="Aptos" panose="020B00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7DB1290-2278-DD40-1735-26C87D9E7552}"/>
              </a:ext>
            </a:extLst>
          </p:cNvPr>
          <p:cNvSpPr txBox="1"/>
          <p:nvPr/>
        </p:nvSpPr>
        <p:spPr>
          <a:xfrm>
            <a:off x="3530600" y="3314700"/>
            <a:ext cx="2921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300" b="1">
                <a:solidFill>
                  <a:srgbClr val="1F2937"/>
                </a:solidFill>
                <a:latin typeface="Aptos" panose="020B0004020202020204" pitchFamily="34" charset="0"/>
              </a:rPr>
              <a:t>Manifest rows</a:t>
            </a:r>
            <a:endParaRPr lang="zh-CN" altLang="en-US" sz="13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7B76628-171E-26A1-EDDC-EEB2D43DD7F8}"/>
              </a:ext>
            </a:extLst>
          </p:cNvPr>
          <p:cNvSpPr/>
          <p:nvPr/>
        </p:nvSpPr>
        <p:spPr>
          <a:xfrm>
            <a:off x="2374900" y="4089400"/>
            <a:ext cx="3683000" cy="6985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F28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5962231-17E4-3EAF-0DF9-05C25EFF2F23}"/>
              </a:ext>
            </a:extLst>
          </p:cNvPr>
          <p:cNvSpPr txBox="1"/>
          <p:nvPr/>
        </p:nvSpPr>
        <p:spPr>
          <a:xfrm>
            <a:off x="2603500" y="4203700"/>
            <a:ext cx="1397000" cy="38100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100" b="1">
                <a:solidFill>
                  <a:srgbClr val="F28C28"/>
                </a:solidFill>
                <a:latin typeface="Aptos" panose="020B0004020202020204" pitchFamily="34" charset="0"/>
              </a:rPr>
              <a:t>1,500</a:t>
            </a:r>
            <a:endParaRPr lang="zh-CN" altLang="en-US" sz="2100" b="1">
              <a:solidFill>
                <a:srgbClr val="F28C28"/>
              </a:solidFill>
              <a:latin typeface="Aptos" panose="020B00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8488EDC-1985-EF1F-0A0A-0CEB6F7B2853}"/>
              </a:ext>
            </a:extLst>
          </p:cNvPr>
          <p:cNvSpPr txBox="1"/>
          <p:nvPr/>
        </p:nvSpPr>
        <p:spPr>
          <a:xfrm>
            <a:off x="4102100" y="4279900"/>
            <a:ext cx="1778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300" b="1">
                <a:solidFill>
                  <a:srgbClr val="1F2937"/>
                </a:solidFill>
                <a:latin typeface="Aptos" panose="020B0004020202020204" pitchFamily="34" charset="0"/>
              </a:rPr>
              <a:t>Release target</a:t>
            </a:r>
            <a:endParaRPr lang="zh-CN" altLang="en-US" sz="13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8A9FE6-46FB-A976-18CB-92501C144FE8}"/>
              </a:ext>
            </a:extLst>
          </p:cNvPr>
          <p:cNvSpPr txBox="1"/>
          <p:nvPr/>
        </p:nvSpPr>
        <p:spPr>
          <a:xfrm>
            <a:off x="660400" y="5207000"/>
            <a:ext cx="7112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D64545"/>
                </a:solidFill>
                <a:latin typeface="Aptos" panose="020B0004020202020204" pitchFamily="34" charset="0"/>
              </a:rPr>
              <a:t>85.9% = manifest coverage, not final QC pass rate</a:t>
            </a:r>
            <a:endParaRPr lang="zh-CN" altLang="en-US" sz="1100" b="1">
              <a:solidFill>
                <a:srgbClr val="D64545"/>
              </a:solidFill>
              <a:latin typeface="Aptos" panose="020B0004020202020204" pitchFamily="34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E8CA18D-02D7-775D-FBAC-D9933CF7A66A}"/>
              </a:ext>
            </a:extLst>
          </p:cNvPr>
          <p:cNvSpPr/>
          <p:nvPr/>
        </p:nvSpPr>
        <p:spPr>
          <a:xfrm>
            <a:off x="8204200" y="1219200"/>
            <a:ext cx="3530600" cy="127000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66E541E-9809-56DE-7132-00604C1E12C8}"/>
              </a:ext>
            </a:extLst>
          </p:cNvPr>
          <p:cNvSpPr/>
          <p:nvPr/>
        </p:nvSpPr>
        <p:spPr>
          <a:xfrm>
            <a:off x="8204200" y="1219200"/>
            <a:ext cx="76200" cy="1270000"/>
          </a:xfrm>
          <a:prstGeom prst="rect">
            <a:avLst/>
          </a:prstGeom>
          <a:solidFill>
            <a:srgbClr val="2F6B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F6B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9FF6926-4351-C571-DB2D-826FFDE5961C}"/>
              </a:ext>
            </a:extLst>
          </p:cNvPr>
          <p:cNvSpPr txBox="1"/>
          <p:nvPr/>
        </p:nvSpPr>
        <p:spPr>
          <a:xfrm>
            <a:off x="8432800" y="1371600"/>
            <a:ext cx="3149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Image assets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FB590F-5E83-9816-C60F-8E88635CD5D5}"/>
              </a:ext>
            </a:extLst>
          </p:cNvPr>
          <p:cNvSpPr txBox="1"/>
          <p:nvPr/>
        </p:nvSpPr>
        <p:spPr>
          <a:xfrm>
            <a:off x="8432800" y="1778000"/>
            <a:ext cx="31496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8,184 = 4,092 native + 4,092 companions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93B0F03-D25A-7C03-489B-17E99433C652}"/>
              </a:ext>
            </a:extLst>
          </p:cNvPr>
          <p:cNvSpPr/>
          <p:nvPr/>
        </p:nvSpPr>
        <p:spPr>
          <a:xfrm>
            <a:off x="8204200" y="2717800"/>
            <a:ext cx="3530600" cy="1270000"/>
          </a:xfrm>
          <a:prstGeom prst="roundRect">
            <a:avLst/>
          </a:prstGeom>
          <a:solidFill>
            <a:srgbClr val="E7F8FA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9929C95-8117-E5BC-E2E4-281F4B42CF9B}"/>
              </a:ext>
            </a:extLst>
          </p:cNvPr>
          <p:cNvSpPr/>
          <p:nvPr/>
        </p:nvSpPr>
        <p:spPr>
          <a:xfrm>
            <a:off x="8204200" y="2717800"/>
            <a:ext cx="76200" cy="1270000"/>
          </a:xfrm>
          <a:prstGeom prst="rect">
            <a:avLst/>
          </a:prstGeom>
          <a:solidFill>
            <a:srgbClr val="00A7B5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0A7B5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E1AC758-575D-B84F-F4A6-CA923F2EA653}"/>
              </a:ext>
            </a:extLst>
          </p:cNvPr>
          <p:cNvSpPr txBox="1"/>
          <p:nvPr/>
        </p:nvSpPr>
        <p:spPr>
          <a:xfrm>
            <a:off x="8432800" y="2870200"/>
            <a:ext cx="3149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Fallback prompts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67648C3-3713-C1B5-EEF5-CFC1BB78C9B6}"/>
              </a:ext>
            </a:extLst>
          </p:cNvPr>
          <p:cNvSpPr txBox="1"/>
          <p:nvPr/>
        </p:nvSpPr>
        <p:spPr>
          <a:xfrm>
            <a:off x="8432800" y="3276600"/>
            <a:ext cx="3149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117 / 3,519 = 3.3%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512FC2D-C6DF-884C-3067-DAFB9B6385CC}"/>
              </a:ext>
            </a:extLst>
          </p:cNvPr>
          <p:cNvSpPr/>
          <p:nvPr/>
        </p:nvSpPr>
        <p:spPr>
          <a:xfrm>
            <a:off x="8204200" y="4216400"/>
            <a:ext cx="3530600" cy="1422400"/>
          </a:xfrm>
          <a:prstGeom prst="roundRect">
            <a:avLst/>
          </a:prstGeom>
          <a:solidFill>
            <a:srgbClr val="FFF2E5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17A727D-F0EB-944A-D5CB-627C795AA559}"/>
              </a:ext>
            </a:extLst>
          </p:cNvPr>
          <p:cNvSpPr/>
          <p:nvPr/>
        </p:nvSpPr>
        <p:spPr>
          <a:xfrm>
            <a:off x="8204200" y="4216400"/>
            <a:ext cx="76200" cy="1422400"/>
          </a:xfrm>
          <a:prstGeom prst="rect">
            <a:avLst/>
          </a:prstGeom>
          <a:solidFill>
            <a:srgbClr val="F28C2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28C2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0760858-D5D0-1308-B5E0-CA820AF61115}"/>
              </a:ext>
            </a:extLst>
          </p:cNvPr>
          <p:cNvSpPr txBox="1"/>
          <p:nvPr/>
        </p:nvSpPr>
        <p:spPr>
          <a:xfrm>
            <a:off x="8432800" y="4368800"/>
            <a:ext cx="3149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Release status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1E283F8-BC31-3241-7997-04DE69C9880A}"/>
              </a:ext>
            </a:extLst>
          </p:cNvPr>
          <p:cNvSpPr txBox="1"/>
          <p:nvPr/>
        </p:nvSpPr>
        <p:spPr>
          <a:xfrm>
            <a:off x="8432800" y="4775200"/>
            <a:ext cx="31496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Target: 5 × 300 samples
Pending final structural audit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2AF1ABA-49BE-27FD-90BE-D095E79FA30B}"/>
              </a:ext>
            </a:extLst>
          </p:cNvPr>
          <p:cNvSpPr txBox="1"/>
          <p:nvPr/>
        </p:nvSpPr>
        <p:spPr>
          <a:xfrm>
            <a:off x="660400" y="5918200"/>
            <a:ext cx="110744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14213D"/>
                </a:solidFill>
                <a:latin typeface="Aptos" panose="020B0004020202020204" pitchFamily="34" charset="0"/>
              </a:rPr>
              <a:t>Candidate assets are not yet a validated benchmark release.</a:t>
            </a:r>
            <a:endParaRPr lang="zh-CN" altLang="en-US" sz="12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351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10A5BA6-6928-1FFB-248B-546967214F1A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4213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4213D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20CE32-2938-3BC0-D041-8684B1DD238C}"/>
              </a:ext>
            </a:extLst>
          </p:cNvPr>
          <p:cNvSpPr txBox="1"/>
          <p:nvPr/>
        </p:nvSpPr>
        <p:spPr>
          <a:xfrm>
            <a:off x="406400" y="127000"/>
            <a:ext cx="9652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500" b="1">
                <a:solidFill>
                  <a:srgbClr val="FFFFFF"/>
                </a:solidFill>
                <a:latin typeface="Aptos" panose="020B0004020202020204" pitchFamily="34" charset="0"/>
              </a:rPr>
              <a:t>Quality Issues — P0 Critical Finding</a:t>
            </a:r>
            <a:endParaRPr lang="zh-CN" altLang="en-US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FA4077-0E43-4474-5ECA-142B47E96CAF}"/>
              </a:ext>
            </a:extLst>
          </p:cNvPr>
          <p:cNvSpPr txBox="1"/>
          <p:nvPr/>
        </p:nvSpPr>
        <p:spPr>
          <a:xfrm>
            <a:off x="10096500" y="165100"/>
            <a:ext cx="1333500" cy="9233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E5EAF0"/>
                </a:solidFill>
                <a:latin typeface="Aptos" panose="020B0004020202020204" pitchFamily="34" charset="0"/>
              </a:rPr>
              <a:t>MIDTERM PROGRESS REPORT</a:t>
            </a:r>
            <a:endParaRPr lang="zh-CN" altLang="en-US" sz="800" b="1">
              <a:solidFill>
                <a:srgbClr val="E5EAF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FFAC6C-E3F3-C00F-D9F8-D89C521C11D3}"/>
              </a:ext>
            </a:extLst>
          </p:cNvPr>
          <p:cNvSpPr txBox="1"/>
          <p:nvPr/>
        </p:nvSpPr>
        <p:spPr>
          <a:xfrm>
            <a:off x="11493500" y="177800"/>
            <a:ext cx="355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2C14E"/>
                </a:solidFill>
                <a:latin typeface="Aptos" panose="020B0004020202020204" pitchFamily="34" charset="0"/>
              </a:rPr>
              <a:t>9</a:t>
            </a:r>
            <a:endParaRPr lang="zh-CN" altLang="en-US" sz="1300" b="1">
              <a:solidFill>
                <a:srgbClr val="F2C14E"/>
              </a:solidFill>
              <a:latin typeface="Aptos" panose="020B00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929D5D6-F9A2-F6C4-91B5-9B4ADC0DFEFA}"/>
              </a:ext>
            </a:extLst>
          </p:cNvPr>
          <p:cNvCxnSpPr/>
          <p:nvPr/>
        </p:nvCxnSpPr>
        <p:spPr>
          <a:xfrm>
            <a:off x="381000" y="6502400"/>
            <a:ext cx="11430000" cy="0"/>
          </a:xfrm>
          <a:prstGeom prst="line">
            <a:avLst/>
          </a:prstGeom>
          <a:ln w="889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3F2FDE9-3E90-6B98-09D3-7F3CEF9EA60E}"/>
              </a:ext>
            </a:extLst>
          </p:cNvPr>
          <p:cNvSpPr txBox="1"/>
          <p:nvPr/>
        </p:nvSpPr>
        <p:spPr>
          <a:xfrm>
            <a:off x="406400" y="6553200"/>
            <a:ext cx="5334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800">
                <a:solidFill>
                  <a:srgbClr val="64748B"/>
                </a:solidFill>
                <a:latin typeface="Aptos" panose="020B0004020202020204" pitchFamily="34" charset="0"/>
              </a:rPr>
              <a:t>I2V-CompBench · Candidate benchmark under validation</a:t>
            </a:r>
            <a:endParaRPr lang="zh-CN" altLang="en-US" sz="8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C88CFBE-5F00-F21C-15DB-501E955773ED}"/>
              </a:ext>
            </a:extLst>
          </p:cNvPr>
          <p:cNvSpPr txBox="1"/>
          <p:nvPr/>
        </p:nvSpPr>
        <p:spPr>
          <a:xfrm>
            <a:off x="457200" y="965200"/>
            <a:ext cx="11277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400" b="1">
                <a:solidFill>
                  <a:srgbClr val="D64545"/>
                </a:solidFill>
                <a:latin typeface="Aptos" panose="020B0004020202020204" pitchFamily="34" charset="0"/>
              </a:rPr>
              <a:t>Structured evaluation targets remain the blocking issue.</a:t>
            </a:r>
            <a:endParaRPr lang="zh-CN" altLang="en-US" sz="1400" b="1">
              <a:solidFill>
                <a:srgbClr val="D64545"/>
              </a:solidFill>
              <a:latin typeface="Aptos" panose="020B00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DBA2AB2-5A3E-0F55-EB24-2596A2AA1A52}"/>
              </a:ext>
            </a:extLst>
          </p:cNvPr>
          <p:cNvSpPr/>
          <p:nvPr/>
        </p:nvSpPr>
        <p:spPr>
          <a:xfrm>
            <a:off x="457200" y="1422400"/>
            <a:ext cx="3505200" cy="149860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FCE21CA-7F11-789F-6DD5-CBFDCBD5810B}"/>
              </a:ext>
            </a:extLst>
          </p:cNvPr>
          <p:cNvSpPr/>
          <p:nvPr/>
        </p:nvSpPr>
        <p:spPr>
          <a:xfrm>
            <a:off x="457200" y="1422400"/>
            <a:ext cx="76200" cy="1498600"/>
          </a:xfrm>
          <a:prstGeom prst="rect">
            <a:avLst/>
          </a:prstGeom>
          <a:solidFill>
            <a:srgbClr val="D64545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D64545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CBD870B-BEA9-17ED-35B0-ACDEBC1E99D4}"/>
              </a:ext>
            </a:extLst>
          </p:cNvPr>
          <p:cNvSpPr txBox="1"/>
          <p:nvPr/>
        </p:nvSpPr>
        <p:spPr>
          <a:xfrm>
            <a:off x="685800" y="1574800"/>
            <a:ext cx="31242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Frozen old baseline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D8DA8CC-7AA3-6B54-F8F8-20FC097407D3}"/>
              </a:ext>
            </a:extLst>
          </p:cNvPr>
          <p:cNvSpPr txBox="1"/>
          <p:nvPr/>
        </p:nvSpPr>
        <p:spPr>
          <a:xfrm>
            <a:off x="685800" y="1981200"/>
            <a:ext cx="3124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Subject noun: 0 / 3,517
Structured change: 0 / 3,517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3554C82-357B-D72D-A96B-3A830C517ED9}"/>
              </a:ext>
            </a:extLst>
          </p:cNvPr>
          <p:cNvSpPr/>
          <p:nvPr/>
        </p:nvSpPr>
        <p:spPr>
          <a:xfrm>
            <a:off x="4343400" y="1422400"/>
            <a:ext cx="3505200" cy="1498600"/>
          </a:xfrm>
          <a:prstGeom prst="roundRect">
            <a:avLst/>
          </a:prstGeom>
          <a:solidFill>
            <a:srgbClr val="EAF7F0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760A18-5376-DF55-5751-44F6497979DA}"/>
              </a:ext>
            </a:extLst>
          </p:cNvPr>
          <p:cNvSpPr/>
          <p:nvPr/>
        </p:nvSpPr>
        <p:spPr>
          <a:xfrm>
            <a:off x="4343400" y="1422400"/>
            <a:ext cx="76200" cy="1498600"/>
          </a:xfrm>
          <a:prstGeom prst="rect">
            <a:avLst/>
          </a:prstGeom>
          <a:solidFill>
            <a:srgbClr val="2E8B57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E8B57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AE46053-98BD-25AD-1A91-A0D29B12561F}"/>
              </a:ext>
            </a:extLst>
          </p:cNvPr>
          <p:cNvSpPr txBox="1"/>
          <p:nvPr/>
        </p:nvSpPr>
        <p:spPr>
          <a:xfrm>
            <a:off x="4572000" y="1574800"/>
            <a:ext cx="31242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Current repair snapshot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2A2F807-E8C5-680D-A9CF-76C999892BF9}"/>
              </a:ext>
            </a:extLst>
          </p:cNvPr>
          <p:cNvSpPr txBox="1"/>
          <p:nvPr/>
        </p:nvSpPr>
        <p:spPr>
          <a:xfrm>
            <a:off x="4572000" y="1981200"/>
            <a:ext cx="3124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Subject noun: 3,263 / 3,517
Coverage: 92.8%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44EFC02-12CE-EA76-C6A0-620030070A98}"/>
              </a:ext>
            </a:extLst>
          </p:cNvPr>
          <p:cNvSpPr/>
          <p:nvPr/>
        </p:nvSpPr>
        <p:spPr>
          <a:xfrm>
            <a:off x="8229600" y="1422400"/>
            <a:ext cx="3505200" cy="1498600"/>
          </a:xfrm>
          <a:prstGeom prst="roundRect">
            <a:avLst/>
          </a:prstGeom>
          <a:solidFill>
            <a:srgbClr val="FFF2E5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6C2BF5D-F01C-E0D2-0CB4-403D33304568}"/>
              </a:ext>
            </a:extLst>
          </p:cNvPr>
          <p:cNvSpPr/>
          <p:nvPr/>
        </p:nvSpPr>
        <p:spPr>
          <a:xfrm>
            <a:off x="8229600" y="1422400"/>
            <a:ext cx="76200" cy="1498600"/>
          </a:xfrm>
          <a:prstGeom prst="rect">
            <a:avLst/>
          </a:prstGeom>
          <a:solidFill>
            <a:srgbClr val="F28C2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28C2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0DB6643-FCC1-E3B9-423C-E3FD0D7B6912}"/>
              </a:ext>
            </a:extLst>
          </p:cNvPr>
          <p:cNvSpPr txBox="1"/>
          <p:nvPr/>
        </p:nvSpPr>
        <p:spPr>
          <a:xfrm>
            <a:off x="8458200" y="1574800"/>
            <a:ext cx="31242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Residual blocker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A36E76-59D6-A632-B961-694D1A15AB91}"/>
              </a:ext>
            </a:extLst>
          </p:cNvPr>
          <p:cNvSpPr txBox="1"/>
          <p:nvPr/>
        </p:nvSpPr>
        <p:spPr>
          <a:xfrm>
            <a:off x="8458200" y="1981200"/>
            <a:ext cx="3124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Generic/empty subjects: 254
target_relation: 0 / 3,517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9F3A9DD-9787-DB8F-51EA-1D09E1932687}"/>
              </a:ext>
            </a:extLst>
          </p:cNvPr>
          <p:cNvSpPr txBox="1"/>
          <p:nvPr/>
        </p:nvSpPr>
        <p:spPr>
          <a:xfrm>
            <a:off x="457200" y="3327400"/>
            <a:ext cx="11277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4213D"/>
                </a:solidFill>
                <a:latin typeface="Aptos" panose="020B0004020202020204" pitchFamily="34" charset="0"/>
              </a:rPr>
              <a:t>Root-cause path</a:t>
            </a:r>
            <a:endParaRPr lang="zh-CN" altLang="en-US" sz="15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2EA8863-A924-F2AA-B12C-DA99C1E941E5}"/>
              </a:ext>
            </a:extLst>
          </p:cNvPr>
          <p:cNvSpPr/>
          <p:nvPr/>
        </p:nvSpPr>
        <p:spPr>
          <a:xfrm>
            <a:off x="457200" y="3810000"/>
            <a:ext cx="2413000" cy="78740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647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4D61B01-D972-0330-F388-4A09D07CAEA7}"/>
              </a:ext>
            </a:extLst>
          </p:cNvPr>
          <p:cNvSpPr txBox="1"/>
          <p:nvPr/>
        </p:nvSpPr>
        <p:spPr>
          <a:xfrm>
            <a:off x="584200" y="4051300"/>
            <a:ext cx="2159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64748B"/>
                </a:solidFill>
                <a:latin typeface="Aptos" panose="020B0004020202020204" pitchFamily="34" charset="0"/>
              </a:rPr>
              <a:t>Phase 1 fields</a:t>
            </a:r>
            <a:endParaRPr lang="zh-CN" altLang="en-US" sz="12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012BB14-8875-FC55-33B4-F5A890177B71}"/>
              </a:ext>
            </a:extLst>
          </p:cNvPr>
          <p:cNvCxnSpPr/>
          <p:nvPr/>
        </p:nvCxnSpPr>
        <p:spPr>
          <a:xfrm>
            <a:off x="2882900" y="4203700"/>
            <a:ext cx="3810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D27DE73-25CA-0A0C-6F0C-7735ACE4D3D0}"/>
              </a:ext>
            </a:extLst>
          </p:cNvPr>
          <p:cNvSpPr/>
          <p:nvPr/>
        </p:nvSpPr>
        <p:spPr>
          <a:xfrm>
            <a:off x="3276600" y="3810000"/>
            <a:ext cx="2413000" cy="78740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D64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A5320C9-427D-BAEB-A9D4-924F37E1A416}"/>
              </a:ext>
            </a:extLst>
          </p:cNvPr>
          <p:cNvSpPr txBox="1"/>
          <p:nvPr/>
        </p:nvSpPr>
        <p:spPr>
          <a:xfrm>
            <a:off x="3403600" y="4051300"/>
            <a:ext cx="2159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D64545"/>
                </a:solidFill>
                <a:latin typeface="Aptos" panose="020B0004020202020204" pitchFamily="34" charset="0"/>
              </a:rPr>
              <a:t>Field/version adapter</a:t>
            </a:r>
            <a:endParaRPr lang="zh-CN" altLang="en-US" sz="1200" b="1">
              <a:solidFill>
                <a:srgbClr val="D64545"/>
              </a:solidFill>
              <a:latin typeface="Aptos" panose="020B0004020202020204" pitchFamily="34" charset="0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EE63707-4DDC-3205-0DB1-8EA9927D4BF5}"/>
              </a:ext>
            </a:extLst>
          </p:cNvPr>
          <p:cNvCxnSpPr/>
          <p:nvPr/>
        </p:nvCxnSpPr>
        <p:spPr>
          <a:xfrm>
            <a:off x="5702300" y="4203700"/>
            <a:ext cx="3810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5AF3116-4EA0-3BF9-0AA1-76CB75CAB909}"/>
              </a:ext>
            </a:extLst>
          </p:cNvPr>
          <p:cNvSpPr/>
          <p:nvPr/>
        </p:nvSpPr>
        <p:spPr>
          <a:xfrm>
            <a:off x="6096000" y="3810000"/>
            <a:ext cx="2413000" cy="78740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D64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FCC94F2-5514-2B76-0ECD-36CEF2C6C140}"/>
              </a:ext>
            </a:extLst>
          </p:cNvPr>
          <p:cNvSpPr txBox="1"/>
          <p:nvPr/>
        </p:nvSpPr>
        <p:spPr>
          <a:xfrm>
            <a:off x="6223000" y="4051300"/>
            <a:ext cx="2159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D64545"/>
                </a:solidFill>
                <a:latin typeface="Aptos" panose="020B0004020202020204" pitchFamily="34" charset="0"/>
              </a:rPr>
              <a:t>Phase 2 targets</a:t>
            </a:r>
            <a:endParaRPr lang="zh-CN" altLang="en-US" sz="1200" b="1">
              <a:solidFill>
                <a:srgbClr val="D64545"/>
              </a:solidFill>
              <a:latin typeface="Aptos" panose="020B0004020202020204" pitchFamily="34" charset="0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D3287B46-1C39-7E14-2F0D-0FDB9379275A}"/>
              </a:ext>
            </a:extLst>
          </p:cNvPr>
          <p:cNvCxnSpPr/>
          <p:nvPr/>
        </p:nvCxnSpPr>
        <p:spPr>
          <a:xfrm>
            <a:off x="8521700" y="4203700"/>
            <a:ext cx="3810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46F4082-CCD6-DC56-600E-E861358665AE}"/>
              </a:ext>
            </a:extLst>
          </p:cNvPr>
          <p:cNvSpPr/>
          <p:nvPr/>
        </p:nvSpPr>
        <p:spPr>
          <a:xfrm>
            <a:off x="8915400" y="3810000"/>
            <a:ext cx="2413000" cy="78740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647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13F5171-8F7B-3EBD-AD4B-8254B5F5922A}"/>
              </a:ext>
            </a:extLst>
          </p:cNvPr>
          <p:cNvSpPr txBox="1"/>
          <p:nvPr/>
        </p:nvSpPr>
        <p:spPr>
          <a:xfrm>
            <a:off x="9042400" y="4051300"/>
            <a:ext cx="2159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64748B"/>
                </a:solidFill>
                <a:latin typeface="Aptos" panose="020B0004020202020204" pitchFamily="34" charset="0"/>
              </a:rPr>
              <a:t>Export hard gates</a:t>
            </a:r>
            <a:endParaRPr lang="zh-CN" altLang="en-US" sz="12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9AAECE2-4A0E-CD29-C7D9-9DED63EBB555}"/>
              </a:ext>
            </a:extLst>
          </p:cNvPr>
          <p:cNvCxnSpPr/>
          <p:nvPr/>
        </p:nvCxnSpPr>
        <p:spPr>
          <a:xfrm>
            <a:off x="457200" y="5143500"/>
            <a:ext cx="11277600" cy="0"/>
          </a:xfrm>
          <a:prstGeom prst="line">
            <a:avLst/>
          </a:prstGeom>
          <a:ln w="38100">
            <a:solidFill>
              <a:srgbClr val="D645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2C886D19-8348-E5CB-E0B4-6D7D65B72117}"/>
              </a:ext>
            </a:extLst>
          </p:cNvPr>
          <p:cNvSpPr txBox="1"/>
          <p:nvPr/>
        </p:nvSpPr>
        <p:spPr>
          <a:xfrm>
            <a:off x="533400" y="5283200"/>
            <a:ext cx="11125200" cy="38100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D64545"/>
                </a:solidFill>
                <a:latin typeface="Aptos" panose="020B0004020202020204" pitchFamily="34" charset="0"/>
              </a:rPr>
              <a:t>P0 partially repaired — manifest and preliminary “Final 1500” are NOT release-ready.</a:t>
            </a:r>
            <a:endParaRPr lang="zh-CN" altLang="en-US" sz="1300" b="1">
              <a:solidFill>
                <a:srgbClr val="D64545"/>
              </a:solidFill>
              <a:latin typeface="Aptos" panose="020B00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962A075-8A92-47E6-B367-3BA3C810ED73}"/>
              </a:ext>
            </a:extLst>
          </p:cNvPr>
          <p:cNvSpPr txBox="1"/>
          <p:nvPr/>
        </p:nvSpPr>
        <p:spPr>
          <a:xfrm>
            <a:off x="533400" y="5880100"/>
            <a:ext cx="111252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1F3A5F"/>
                </a:solidFill>
                <a:latin typeface="Aptos" panose="020B0004020202020204" pitchFamily="34" charset="0"/>
              </a:rPr>
              <a:t>Next: reconstruct relations → resolve residuals → full audit → freeze version → package</a:t>
            </a:r>
            <a:endParaRPr lang="zh-CN" altLang="en-US" sz="1100" b="1">
              <a:solidFill>
                <a:srgbClr val="1F3A5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562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BDACA72-7558-6E1E-D4BB-AB32DB28066E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4213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4213D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93F819-F39F-5229-1ACD-86F721A1DBBD}"/>
              </a:ext>
            </a:extLst>
          </p:cNvPr>
          <p:cNvSpPr txBox="1"/>
          <p:nvPr/>
        </p:nvSpPr>
        <p:spPr>
          <a:xfrm>
            <a:off x="406400" y="127000"/>
            <a:ext cx="9652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500" b="1">
                <a:solidFill>
                  <a:srgbClr val="FFFFFF"/>
                </a:solidFill>
                <a:latin typeface="Aptos" panose="020B0004020202020204" pitchFamily="34" charset="0"/>
              </a:rPr>
              <a:t>Quality Issues — P1 to P4</a:t>
            </a:r>
            <a:endParaRPr lang="zh-CN" altLang="en-US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5199D6-A9D9-E4FB-35BD-1CD0FCC552A4}"/>
              </a:ext>
            </a:extLst>
          </p:cNvPr>
          <p:cNvSpPr txBox="1"/>
          <p:nvPr/>
        </p:nvSpPr>
        <p:spPr>
          <a:xfrm>
            <a:off x="10096500" y="165100"/>
            <a:ext cx="1333500" cy="9233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E5EAF0"/>
                </a:solidFill>
                <a:latin typeface="Aptos" panose="020B0004020202020204" pitchFamily="34" charset="0"/>
              </a:rPr>
              <a:t>MIDTERM PROGRESS REPORT</a:t>
            </a:r>
            <a:endParaRPr lang="zh-CN" altLang="en-US" sz="800" b="1">
              <a:solidFill>
                <a:srgbClr val="E5EAF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5F7C7C-DD6A-C315-07C1-35B1C3CB6937}"/>
              </a:ext>
            </a:extLst>
          </p:cNvPr>
          <p:cNvSpPr txBox="1"/>
          <p:nvPr/>
        </p:nvSpPr>
        <p:spPr>
          <a:xfrm>
            <a:off x="11493500" y="177800"/>
            <a:ext cx="3556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2C14E"/>
                </a:solidFill>
                <a:latin typeface="Aptos" panose="020B0004020202020204" pitchFamily="34" charset="0"/>
              </a:rPr>
              <a:t>10</a:t>
            </a:r>
            <a:endParaRPr lang="zh-CN" altLang="en-US" sz="1300" b="1">
              <a:solidFill>
                <a:srgbClr val="F2C14E"/>
              </a:solidFill>
              <a:latin typeface="Aptos" panose="020B00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099A6C3-C470-C1DE-8EE8-D1A1FEB5850B}"/>
              </a:ext>
            </a:extLst>
          </p:cNvPr>
          <p:cNvCxnSpPr/>
          <p:nvPr/>
        </p:nvCxnSpPr>
        <p:spPr>
          <a:xfrm>
            <a:off x="381000" y="6502400"/>
            <a:ext cx="11430000" cy="0"/>
          </a:xfrm>
          <a:prstGeom prst="line">
            <a:avLst/>
          </a:prstGeom>
          <a:ln w="889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C3E176C3-62D8-8C35-BF13-D3688C10B936}"/>
              </a:ext>
            </a:extLst>
          </p:cNvPr>
          <p:cNvSpPr txBox="1"/>
          <p:nvPr/>
        </p:nvSpPr>
        <p:spPr>
          <a:xfrm>
            <a:off x="406400" y="6553200"/>
            <a:ext cx="5334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800">
                <a:solidFill>
                  <a:srgbClr val="64748B"/>
                </a:solidFill>
                <a:latin typeface="Aptos" panose="020B0004020202020204" pitchFamily="34" charset="0"/>
              </a:rPr>
              <a:t>I2V-CompBench · Candidate benchmark under validation</a:t>
            </a:r>
            <a:endParaRPr lang="zh-CN" altLang="en-US" sz="8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68E2848-EACE-9DFA-0DA9-2B182EF7862C}"/>
              </a:ext>
            </a:extLst>
          </p:cNvPr>
          <p:cNvSpPr/>
          <p:nvPr/>
        </p:nvSpPr>
        <p:spPr>
          <a:xfrm>
            <a:off x="457200" y="1117600"/>
            <a:ext cx="5537200" cy="2260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28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D28AC88-067B-0AB0-6D42-A52BC6D6B7DE}"/>
              </a:ext>
            </a:extLst>
          </p:cNvPr>
          <p:cNvSpPr txBox="1"/>
          <p:nvPr/>
        </p:nvSpPr>
        <p:spPr>
          <a:xfrm>
            <a:off x="660400" y="1270000"/>
            <a:ext cx="5130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F28C28"/>
                </a:solidFill>
                <a:latin typeface="Aptos" panose="020B0004020202020204" pitchFamily="34" charset="0"/>
              </a:rPr>
              <a:t>P1  Low-frequency wording</a:t>
            </a:r>
            <a:endParaRPr lang="zh-CN" altLang="en-US" sz="1500" b="1">
              <a:solidFill>
                <a:srgbClr val="F28C28"/>
              </a:solidFill>
              <a:latin typeface="Aptos" panose="020B00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A2DEF8-1CBC-903A-63E3-899C8102DFAB}"/>
              </a:ext>
            </a:extLst>
          </p:cNvPr>
          <p:cNvSpPr/>
          <p:nvPr/>
        </p:nvSpPr>
        <p:spPr>
          <a:xfrm>
            <a:off x="660400" y="1727200"/>
            <a:ext cx="1905000" cy="1295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CBB1D53-5279-0F5C-B16B-28993C2C47C8}"/>
              </a:ext>
            </a:extLst>
          </p:cNvPr>
          <p:cNvSpPr txBox="1"/>
          <p:nvPr/>
        </p:nvSpPr>
        <p:spPr>
          <a:xfrm>
            <a:off x="787400" y="1854200"/>
            <a:ext cx="1651000" cy="9233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64748B"/>
                </a:solidFill>
                <a:latin typeface="Aptos" panose="020B0004020202020204" pitchFamily="34" charset="0"/>
              </a:rPr>
              <a:t>IMAGE PLACEHOLDER</a:t>
            </a:r>
            <a:endParaRPr lang="zh-CN" altLang="en-US" sz="11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D9EE35-3892-2898-DEF5-8EEF470CD6E1}"/>
              </a:ext>
            </a:extLst>
          </p:cNvPr>
          <p:cNvSpPr txBox="1"/>
          <p:nvPr/>
        </p:nvSpPr>
        <p:spPr>
          <a:xfrm>
            <a:off x="838200" y="2146300"/>
            <a:ext cx="15494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64748B"/>
                </a:solidFill>
                <a:latin typeface="Aptos" panose="020B0004020202020204" pitchFamily="34" charset="0"/>
              </a:rPr>
              <a:t>Insert prompt example</a:t>
            </a:r>
            <a:endParaRPr lang="zh-CN" altLang="en-US" sz="15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D1EE70D-5CE4-0CFF-2EE3-75750AB51B28}"/>
              </a:ext>
            </a:extLst>
          </p:cNvPr>
          <p:cNvSpPr txBox="1"/>
          <p:nvPr/>
        </p:nvSpPr>
        <p:spPr>
          <a:xfrm>
            <a:off x="812800" y="2641600"/>
            <a:ext cx="1600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>
                <a:solidFill>
                  <a:srgbClr val="64748B"/>
                </a:solidFill>
                <a:latin typeface="Aptos" panose="020B0004020202020204" pitchFamily="34" charset="0"/>
              </a:rPr>
              <a:t>Optional visual</a:t>
            </a:r>
            <a:endParaRPr lang="zh-CN" altLang="en-US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EE333D-0438-AB4F-2568-64EB6D25EFFF}"/>
              </a:ext>
            </a:extLst>
          </p:cNvPr>
          <p:cNvSpPr txBox="1"/>
          <p:nvPr/>
        </p:nvSpPr>
        <p:spPr>
          <a:xfrm>
            <a:off x="2768600" y="1854200"/>
            <a:ext cx="2997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 b="1">
                <a:solidFill>
                  <a:srgbClr val="1F2937"/>
                </a:solidFill>
                <a:latin typeface="Aptos" panose="020B0004020202020204" pitchFamily="34" charset="0"/>
              </a:rPr>
              <a:t>5.8% flagged; keep necessary terms</a:t>
            </a:r>
            <a:endParaRPr lang="zh-CN" altLang="en-US" sz="12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873114-B933-4A62-ECB1-B31AF4BD9BDE}"/>
              </a:ext>
            </a:extLst>
          </p:cNvPr>
          <p:cNvSpPr/>
          <p:nvPr/>
        </p:nvSpPr>
        <p:spPr>
          <a:xfrm>
            <a:off x="6197600" y="1117600"/>
            <a:ext cx="5537200" cy="2260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4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F0104A4-4150-0C1F-822C-5100B2E1E3C2}"/>
              </a:ext>
            </a:extLst>
          </p:cNvPr>
          <p:cNvSpPr txBox="1"/>
          <p:nvPr/>
        </p:nvSpPr>
        <p:spPr>
          <a:xfrm>
            <a:off x="6400800" y="1270000"/>
            <a:ext cx="5130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D64545"/>
                </a:solidFill>
                <a:latin typeface="Aptos" panose="020B0004020202020204" pitchFamily="34" charset="0"/>
              </a:rPr>
              <a:t>P2  Image clarity</a:t>
            </a:r>
            <a:endParaRPr lang="zh-CN" altLang="en-US" sz="1500" b="1">
              <a:solidFill>
                <a:srgbClr val="D64545"/>
              </a:solidFill>
              <a:latin typeface="Aptos" panose="020B00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C5DC42-6C37-8430-FBAD-0B0685FFB653}"/>
              </a:ext>
            </a:extLst>
          </p:cNvPr>
          <p:cNvSpPr/>
          <p:nvPr/>
        </p:nvSpPr>
        <p:spPr>
          <a:xfrm>
            <a:off x="6400800" y="1727200"/>
            <a:ext cx="1905000" cy="1295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750AC37-8171-F74B-1D7F-BC3692B9C3CB}"/>
              </a:ext>
            </a:extLst>
          </p:cNvPr>
          <p:cNvSpPr txBox="1"/>
          <p:nvPr/>
        </p:nvSpPr>
        <p:spPr>
          <a:xfrm>
            <a:off x="6527800" y="1854200"/>
            <a:ext cx="1651000" cy="9233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64748B"/>
                </a:solidFill>
                <a:latin typeface="Aptos" panose="020B0004020202020204" pitchFamily="34" charset="0"/>
              </a:rPr>
              <a:t>IMAGE PLACEHOLDER</a:t>
            </a:r>
            <a:endParaRPr lang="zh-CN" altLang="en-US" sz="11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038ED05-E1CF-7DF9-B07C-9EB5C215645C}"/>
              </a:ext>
            </a:extLst>
          </p:cNvPr>
          <p:cNvSpPr txBox="1"/>
          <p:nvPr/>
        </p:nvSpPr>
        <p:spPr>
          <a:xfrm>
            <a:off x="6578600" y="2146300"/>
            <a:ext cx="15494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64748B"/>
                </a:solidFill>
                <a:latin typeface="Aptos" panose="020B0004020202020204" pitchFamily="34" charset="0"/>
              </a:rPr>
              <a:t>Insert clarity comparison</a:t>
            </a:r>
            <a:endParaRPr lang="zh-CN" altLang="en-US" sz="15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9556839-12D4-C107-2EEE-AD6DAEF2C7E2}"/>
              </a:ext>
            </a:extLst>
          </p:cNvPr>
          <p:cNvSpPr txBox="1"/>
          <p:nvPr/>
        </p:nvSpPr>
        <p:spPr>
          <a:xfrm>
            <a:off x="6553200" y="2641600"/>
            <a:ext cx="1600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>
                <a:solidFill>
                  <a:srgbClr val="64748B"/>
                </a:solidFill>
                <a:latin typeface="Aptos" panose="020B0004020202020204" pitchFamily="34" charset="0"/>
              </a:rPr>
              <a:t>Optional visual</a:t>
            </a:r>
            <a:endParaRPr lang="zh-CN" altLang="en-US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E4460C5-5C5E-C14D-36F2-8FD5BF52EEF6}"/>
              </a:ext>
            </a:extLst>
          </p:cNvPr>
          <p:cNvSpPr txBox="1"/>
          <p:nvPr/>
        </p:nvSpPr>
        <p:spPr>
          <a:xfrm>
            <a:off x="8509000" y="1854200"/>
            <a:ext cx="2997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 b="1">
                <a:solidFill>
                  <a:srgbClr val="1F2937"/>
                </a:solidFill>
                <a:latin typeface="Aptos" panose="020B0004020202020204" pitchFamily="34" charset="0"/>
              </a:rPr>
              <a:t>Low-resolution sources; SR may hallucinate</a:t>
            </a:r>
            <a:endParaRPr lang="zh-CN" altLang="en-US" sz="12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448312E-D505-ED89-08DF-E38949774996}"/>
              </a:ext>
            </a:extLst>
          </p:cNvPr>
          <p:cNvSpPr/>
          <p:nvPr/>
        </p:nvSpPr>
        <p:spPr>
          <a:xfrm>
            <a:off x="457200" y="3683000"/>
            <a:ext cx="5537200" cy="2260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4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6C82C2-76BC-F3E2-EADA-9A73EFC65466}"/>
              </a:ext>
            </a:extLst>
          </p:cNvPr>
          <p:cNvSpPr txBox="1"/>
          <p:nvPr/>
        </p:nvSpPr>
        <p:spPr>
          <a:xfrm>
            <a:off x="660400" y="3835400"/>
            <a:ext cx="5130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D64545"/>
                </a:solidFill>
                <a:latin typeface="Aptos" panose="020B0004020202020204" pitchFamily="34" charset="0"/>
              </a:rPr>
              <a:t>P3  Aspect ratio</a:t>
            </a:r>
            <a:endParaRPr lang="zh-CN" altLang="en-US" sz="1500" b="1">
              <a:solidFill>
                <a:srgbClr val="D64545"/>
              </a:solidFill>
              <a:latin typeface="Aptos" panose="020B00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A72BF0-52D4-585A-D243-9B10AE9D9704}"/>
              </a:ext>
            </a:extLst>
          </p:cNvPr>
          <p:cNvSpPr/>
          <p:nvPr/>
        </p:nvSpPr>
        <p:spPr>
          <a:xfrm>
            <a:off x="660400" y="4292600"/>
            <a:ext cx="1905000" cy="1295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EDE744A-A14C-FFBC-99D9-EA6AABC713CE}"/>
              </a:ext>
            </a:extLst>
          </p:cNvPr>
          <p:cNvSpPr txBox="1"/>
          <p:nvPr/>
        </p:nvSpPr>
        <p:spPr>
          <a:xfrm>
            <a:off x="787400" y="4419600"/>
            <a:ext cx="1651000" cy="9233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64748B"/>
                </a:solidFill>
                <a:latin typeface="Aptos" panose="020B0004020202020204" pitchFamily="34" charset="0"/>
              </a:rPr>
              <a:t>IMAGE PLACEHOLDER</a:t>
            </a:r>
            <a:endParaRPr lang="zh-CN" altLang="en-US" sz="11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9159D56-8CE7-1F5F-2F4D-831435AE60F0}"/>
              </a:ext>
            </a:extLst>
          </p:cNvPr>
          <p:cNvSpPr txBox="1"/>
          <p:nvPr/>
        </p:nvSpPr>
        <p:spPr>
          <a:xfrm>
            <a:off x="838200" y="4711700"/>
            <a:ext cx="15494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64748B"/>
                </a:solidFill>
                <a:latin typeface="Aptos" panose="020B0004020202020204" pitchFamily="34" charset="0"/>
              </a:rPr>
              <a:t>Insert AR collage</a:t>
            </a:r>
            <a:endParaRPr lang="zh-CN" altLang="en-US" sz="15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B96AB17-204E-7DB0-EDE8-F83BFD1E2E67}"/>
              </a:ext>
            </a:extLst>
          </p:cNvPr>
          <p:cNvSpPr txBox="1"/>
          <p:nvPr/>
        </p:nvSpPr>
        <p:spPr>
          <a:xfrm>
            <a:off x="812800" y="5207000"/>
            <a:ext cx="1600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>
                <a:solidFill>
                  <a:srgbClr val="64748B"/>
                </a:solidFill>
                <a:latin typeface="Aptos" panose="020B0004020202020204" pitchFamily="34" charset="0"/>
              </a:rPr>
              <a:t>Optional visual</a:t>
            </a:r>
            <a:endParaRPr lang="zh-CN" altLang="en-US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9930500-FFD6-2978-CDFB-6C93EB960BE7}"/>
              </a:ext>
            </a:extLst>
          </p:cNvPr>
          <p:cNvSpPr txBox="1"/>
          <p:nvPr/>
        </p:nvSpPr>
        <p:spPr>
          <a:xfrm>
            <a:off x="2768600" y="4419600"/>
            <a:ext cx="2997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 b="1">
                <a:solidFill>
                  <a:srgbClr val="1F2937"/>
                </a:solidFill>
                <a:latin typeface="Aptos" panose="020B0004020202020204" pitchFamily="34" charset="0"/>
              </a:rPr>
              <a:t>AR 0.53–2.52; crop/pad may alter targets</a:t>
            </a:r>
            <a:endParaRPr lang="zh-CN" altLang="en-US" sz="12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5CC2ED89-F9CD-8A6D-E86B-362085560A4B}"/>
              </a:ext>
            </a:extLst>
          </p:cNvPr>
          <p:cNvSpPr/>
          <p:nvPr/>
        </p:nvSpPr>
        <p:spPr>
          <a:xfrm>
            <a:off x="6197600" y="3683000"/>
            <a:ext cx="5537200" cy="2260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28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253695F-A513-88E7-20BD-029F6ED27F40}"/>
              </a:ext>
            </a:extLst>
          </p:cNvPr>
          <p:cNvSpPr txBox="1"/>
          <p:nvPr/>
        </p:nvSpPr>
        <p:spPr>
          <a:xfrm>
            <a:off x="6400800" y="3835400"/>
            <a:ext cx="5130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F28C28"/>
                </a:solidFill>
                <a:latin typeface="Aptos" panose="020B0004020202020204" pitchFamily="34" charset="0"/>
              </a:rPr>
              <a:t>P4  Distribution</a:t>
            </a:r>
            <a:endParaRPr lang="zh-CN" altLang="en-US" sz="1500" b="1">
              <a:solidFill>
                <a:srgbClr val="F28C28"/>
              </a:solidFill>
              <a:latin typeface="Aptos" panose="020B0004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BF41780-FD76-2F09-4942-DDCD37CB0DE8}"/>
              </a:ext>
            </a:extLst>
          </p:cNvPr>
          <p:cNvSpPr/>
          <p:nvPr/>
        </p:nvSpPr>
        <p:spPr>
          <a:xfrm>
            <a:off x="6400800" y="4292600"/>
            <a:ext cx="1905000" cy="1295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64748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C79F4B4-EF15-5BF8-A5A4-90F2ECE60111}"/>
              </a:ext>
            </a:extLst>
          </p:cNvPr>
          <p:cNvSpPr txBox="1"/>
          <p:nvPr/>
        </p:nvSpPr>
        <p:spPr>
          <a:xfrm>
            <a:off x="6527800" y="4419600"/>
            <a:ext cx="1651000" cy="9233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64748B"/>
                </a:solidFill>
                <a:latin typeface="Aptos" panose="020B0004020202020204" pitchFamily="34" charset="0"/>
              </a:rPr>
              <a:t>IMAGE PLACEHOLDER</a:t>
            </a:r>
            <a:endParaRPr lang="zh-CN" altLang="en-US" sz="11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888C5BE-07FE-7889-F339-B2276D5E9BD5}"/>
              </a:ext>
            </a:extLst>
          </p:cNvPr>
          <p:cNvSpPr txBox="1"/>
          <p:nvPr/>
        </p:nvSpPr>
        <p:spPr>
          <a:xfrm>
            <a:off x="6578600" y="4711700"/>
            <a:ext cx="15494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500" b="1">
                <a:solidFill>
                  <a:srgbClr val="64748B"/>
                </a:solidFill>
                <a:latin typeface="Aptos" panose="020B0004020202020204" pitchFamily="34" charset="0"/>
              </a:rPr>
              <a:t>Insert long-tail chart</a:t>
            </a:r>
            <a:endParaRPr lang="zh-CN" altLang="en-US" sz="15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B68EF35-1988-0477-5D2D-6B965FB55155}"/>
              </a:ext>
            </a:extLst>
          </p:cNvPr>
          <p:cNvSpPr txBox="1"/>
          <p:nvPr/>
        </p:nvSpPr>
        <p:spPr>
          <a:xfrm>
            <a:off x="6553200" y="5207000"/>
            <a:ext cx="1600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>
                <a:solidFill>
                  <a:srgbClr val="64748B"/>
                </a:solidFill>
                <a:latin typeface="Aptos" panose="020B0004020202020204" pitchFamily="34" charset="0"/>
              </a:rPr>
              <a:t>Optional visual</a:t>
            </a:r>
            <a:endParaRPr lang="zh-CN" altLang="en-US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332A820-5592-B49F-9EE9-E03FB88E25E5}"/>
              </a:ext>
            </a:extLst>
          </p:cNvPr>
          <p:cNvSpPr txBox="1"/>
          <p:nvPr/>
        </p:nvSpPr>
        <p:spPr>
          <a:xfrm>
            <a:off x="8509000" y="4419600"/>
            <a:ext cx="29972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 b="1">
                <a:solidFill>
                  <a:srgbClr val="1F2937"/>
                </a:solidFill>
                <a:latin typeface="Aptos" panose="020B0004020202020204" pitchFamily="34" charset="0"/>
              </a:rPr>
              <a:t>Subject frequency and difficulty uncalibrated</a:t>
            </a:r>
            <a:endParaRPr lang="zh-CN" altLang="en-US" sz="12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5B3F204-4D69-6BB8-93AE-6BF3D1DB5C0F}"/>
              </a:ext>
            </a:extLst>
          </p:cNvPr>
          <p:cNvSpPr txBox="1"/>
          <p:nvPr/>
        </p:nvSpPr>
        <p:spPr>
          <a:xfrm>
            <a:off x="457200" y="6121400"/>
            <a:ext cx="11277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14213D"/>
                </a:solidFill>
                <a:latin typeface="Aptos" panose="020B0004020202020204" pitchFamily="34" charset="0"/>
              </a:rPr>
              <a:t>Shared rule: quality repair must not change the semantic ground truth.</a:t>
            </a:r>
            <a:endParaRPr lang="zh-CN" altLang="en-US" sz="12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817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38A1947-1748-91C2-D8B9-C4A8B5658FC7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4213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4213D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CFD517-DC65-103D-0EB5-1F1AE7C6FB47}"/>
              </a:ext>
            </a:extLst>
          </p:cNvPr>
          <p:cNvSpPr txBox="1"/>
          <p:nvPr/>
        </p:nvSpPr>
        <p:spPr>
          <a:xfrm>
            <a:off x="406400" y="127000"/>
            <a:ext cx="9652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500" b="1">
                <a:solidFill>
                  <a:srgbClr val="FFFFFF"/>
                </a:solidFill>
                <a:latin typeface="Aptos" panose="020B0004020202020204" pitchFamily="34" charset="0"/>
              </a:rPr>
              <a:t>Future Work — Repair &amp; Validation</a:t>
            </a:r>
            <a:endParaRPr lang="zh-CN" altLang="en-US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7FE1A8-FAFE-6D24-6BC8-9C7CBA2D287A}"/>
              </a:ext>
            </a:extLst>
          </p:cNvPr>
          <p:cNvSpPr txBox="1"/>
          <p:nvPr/>
        </p:nvSpPr>
        <p:spPr>
          <a:xfrm>
            <a:off x="10096500" y="165100"/>
            <a:ext cx="1333500" cy="9233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E5EAF0"/>
                </a:solidFill>
                <a:latin typeface="Aptos" panose="020B0004020202020204" pitchFamily="34" charset="0"/>
              </a:rPr>
              <a:t>MIDTERM PROGRESS REPORT</a:t>
            </a:r>
            <a:endParaRPr lang="zh-CN" altLang="en-US" sz="800" b="1">
              <a:solidFill>
                <a:srgbClr val="E5EAF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C1E101-EECC-CDC4-2429-A5947898D0BE}"/>
              </a:ext>
            </a:extLst>
          </p:cNvPr>
          <p:cNvSpPr txBox="1"/>
          <p:nvPr/>
        </p:nvSpPr>
        <p:spPr>
          <a:xfrm>
            <a:off x="11493500" y="177800"/>
            <a:ext cx="3556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2C14E"/>
                </a:solidFill>
                <a:latin typeface="Aptos" panose="020B0004020202020204" pitchFamily="34" charset="0"/>
              </a:rPr>
              <a:t>11</a:t>
            </a:r>
            <a:endParaRPr lang="zh-CN" altLang="en-US" sz="1300" b="1">
              <a:solidFill>
                <a:srgbClr val="F2C14E"/>
              </a:solidFill>
              <a:latin typeface="Aptos" panose="020B00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C124CCC-8C60-8AF6-9592-FC59E88F8F30}"/>
              </a:ext>
            </a:extLst>
          </p:cNvPr>
          <p:cNvCxnSpPr/>
          <p:nvPr/>
        </p:nvCxnSpPr>
        <p:spPr>
          <a:xfrm>
            <a:off x="381000" y="6502400"/>
            <a:ext cx="11430000" cy="0"/>
          </a:xfrm>
          <a:prstGeom prst="line">
            <a:avLst/>
          </a:prstGeom>
          <a:ln w="889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B9D2C252-6071-F40C-3AA6-4C897B74D02A}"/>
              </a:ext>
            </a:extLst>
          </p:cNvPr>
          <p:cNvSpPr txBox="1"/>
          <p:nvPr/>
        </p:nvSpPr>
        <p:spPr>
          <a:xfrm>
            <a:off x="406400" y="6553200"/>
            <a:ext cx="5334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800">
                <a:solidFill>
                  <a:srgbClr val="64748B"/>
                </a:solidFill>
                <a:latin typeface="Aptos" panose="020B0004020202020204" pitchFamily="34" charset="0"/>
              </a:rPr>
              <a:t>I2V-CompBench · Candidate benchmark under validation</a:t>
            </a:r>
            <a:endParaRPr lang="zh-CN" altLang="en-US" sz="8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D7C1690-8FD2-0AA7-1CF0-4B50B87C17D3}"/>
              </a:ext>
            </a:extLst>
          </p:cNvPr>
          <p:cNvSpPr/>
          <p:nvPr/>
        </p:nvSpPr>
        <p:spPr>
          <a:xfrm>
            <a:off x="431800" y="1092200"/>
            <a:ext cx="3632200" cy="220980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4B724B-C2C3-2AC6-3F5E-86FE649D0B03}"/>
              </a:ext>
            </a:extLst>
          </p:cNvPr>
          <p:cNvSpPr/>
          <p:nvPr/>
        </p:nvSpPr>
        <p:spPr>
          <a:xfrm>
            <a:off x="431800" y="1092200"/>
            <a:ext cx="76200" cy="2209800"/>
          </a:xfrm>
          <a:prstGeom prst="rect">
            <a:avLst/>
          </a:prstGeom>
          <a:solidFill>
            <a:srgbClr val="D64545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D64545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2B810B8-56F4-471D-D943-6B5BA4A1C78B}"/>
              </a:ext>
            </a:extLst>
          </p:cNvPr>
          <p:cNvSpPr txBox="1"/>
          <p:nvPr/>
        </p:nvSpPr>
        <p:spPr>
          <a:xfrm>
            <a:off x="660400" y="1244600"/>
            <a:ext cx="32512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1  P0 closure &amp; versioning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017AC7-AAF0-DE54-5754-1A3F8F5520BB}"/>
              </a:ext>
            </a:extLst>
          </p:cNvPr>
          <p:cNvSpPr txBox="1"/>
          <p:nvPr/>
        </p:nvSpPr>
        <p:spPr>
          <a:xfrm>
            <a:off x="660400" y="1651000"/>
            <a:ext cx="3251200" cy="12003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Reconstruct target_relation
Resolve/reject 254 subjects
Add hard gates and freeze manifest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CCFA592-746E-74C6-62BF-F4100593D84D}"/>
              </a:ext>
            </a:extLst>
          </p:cNvPr>
          <p:cNvSpPr/>
          <p:nvPr/>
        </p:nvSpPr>
        <p:spPr>
          <a:xfrm>
            <a:off x="4279900" y="1092200"/>
            <a:ext cx="3632200" cy="2209800"/>
          </a:xfrm>
          <a:prstGeom prst="roundRect">
            <a:avLst/>
          </a:prstGeom>
          <a:solidFill>
            <a:srgbClr val="FFF2E5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63BBA5-306C-4C81-948C-05B7EABE8A6C}"/>
              </a:ext>
            </a:extLst>
          </p:cNvPr>
          <p:cNvSpPr/>
          <p:nvPr/>
        </p:nvSpPr>
        <p:spPr>
          <a:xfrm>
            <a:off x="4279900" y="1092200"/>
            <a:ext cx="76200" cy="2209800"/>
          </a:xfrm>
          <a:prstGeom prst="rect">
            <a:avLst/>
          </a:prstGeom>
          <a:solidFill>
            <a:srgbClr val="F28C2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28C2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2FDFEF6-B411-23F2-0F72-AEC3128A2F70}"/>
              </a:ext>
            </a:extLst>
          </p:cNvPr>
          <p:cNvSpPr txBox="1"/>
          <p:nvPr/>
        </p:nvSpPr>
        <p:spPr>
          <a:xfrm>
            <a:off x="4508500" y="1244600"/>
            <a:ext cx="32512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2  Quality strategy comparison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D051015-7884-CDA5-0F75-79F2AF6049B4}"/>
              </a:ext>
            </a:extLst>
          </p:cNvPr>
          <p:cNvSpPr txBox="1"/>
          <p:nvPr/>
        </p:nvSpPr>
        <p:spPr>
          <a:xfrm>
            <a:off x="4508500" y="1651000"/>
            <a:ext cx="3251200" cy="175432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Meaning-preserving text simplification
Compare interpolation / sharpening / SR
Record aspect-ratio adaptation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56ADD9B-8A29-C6A9-663A-876FB1BAD7EB}"/>
              </a:ext>
            </a:extLst>
          </p:cNvPr>
          <p:cNvSpPr/>
          <p:nvPr/>
        </p:nvSpPr>
        <p:spPr>
          <a:xfrm>
            <a:off x="8128000" y="1092200"/>
            <a:ext cx="3632200" cy="2209800"/>
          </a:xfrm>
          <a:prstGeom prst="roundRect">
            <a:avLst/>
          </a:prstGeom>
          <a:solidFill>
            <a:srgbClr val="EAF7F0"/>
          </a:solidFill>
          <a:ln w="12700">
            <a:solidFill>
              <a:srgbClr val="E5E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7275196-8175-FE89-BE09-855AF04BA955}"/>
              </a:ext>
            </a:extLst>
          </p:cNvPr>
          <p:cNvSpPr/>
          <p:nvPr/>
        </p:nvSpPr>
        <p:spPr>
          <a:xfrm>
            <a:off x="8128000" y="1092200"/>
            <a:ext cx="76200" cy="2209800"/>
          </a:xfrm>
          <a:prstGeom prst="rect">
            <a:avLst/>
          </a:prstGeom>
          <a:solidFill>
            <a:srgbClr val="2E8B57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E8B57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79B20D9-93A7-DC58-D29F-4B28E336696D}"/>
              </a:ext>
            </a:extLst>
          </p:cNvPr>
          <p:cNvSpPr txBox="1"/>
          <p:nvPr/>
        </p:nvSpPr>
        <p:spPr>
          <a:xfrm>
            <a:off x="8356600" y="1244600"/>
            <a:ext cx="32512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F2937"/>
                </a:solidFill>
                <a:latin typeface="Aptos" panose="020B0004020202020204" pitchFamily="34" charset="0"/>
              </a:rPr>
              <a:t>3  Ablation &amp; validity</a:t>
            </a:r>
            <a:endParaRPr lang="zh-CN" altLang="en-US" sz="15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DB5C5B6-D195-46F8-92BE-79439C6B1938}"/>
              </a:ext>
            </a:extLst>
          </p:cNvPr>
          <p:cNvSpPr txBox="1"/>
          <p:nvPr/>
        </p:nvSpPr>
        <p:spPr>
          <a:xfrm>
            <a:off x="8356600" y="1651000"/>
            <a:ext cx="3251200" cy="12003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200">
                <a:solidFill>
                  <a:srgbClr val="64748B"/>
                </a:solidFill>
                <a:latin typeface="Aptos" panose="020B0004020202020204" pitchFamily="34" charset="0"/>
              </a:rPr>
              <a:t>50–100 items per dimension
2–3 image+text I2V models
Automatic metrics + blind human ratings</a:t>
            </a:r>
            <a:endParaRPr lang="zh-CN" altLang="en-US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9C9EB3D-B143-FD28-9D9B-7DBBCBE262CE}"/>
              </a:ext>
            </a:extLst>
          </p:cNvPr>
          <p:cNvSpPr txBox="1"/>
          <p:nvPr/>
        </p:nvSpPr>
        <p:spPr>
          <a:xfrm>
            <a:off x="431800" y="3708400"/>
            <a:ext cx="113284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14213D"/>
                </a:solidFill>
                <a:latin typeface="Aptos" panose="020B0004020202020204" pitchFamily="34" charset="0"/>
              </a:rPr>
              <a:t>Validity loop</a:t>
            </a:r>
            <a:endParaRPr lang="zh-CN" altLang="en-US" sz="15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44DD21D-B8D6-B7FD-239A-155E4BBD0182}"/>
              </a:ext>
            </a:extLst>
          </p:cNvPr>
          <p:cNvSpPr/>
          <p:nvPr/>
        </p:nvSpPr>
        <p:spPr>
          <a:xfrm>
            <a:off x="431800" y="4191000"/>
            <a:ext cx="1905000" cy="685800"/>
          </a:xfrm>
          <a:prstGeom prst="roundRect">
            <a:avLst/>
          </a:prstGeom>
          <a:solidFill>
            <a:srgbClr val="EAF1FF"/>
          </a:solidFill>
          <a:ln w="1397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350E4BC-F6AD-E84C-E105-4814DE79900C}"/>
              </a:ext>
            </a:extLst>
          </p:cNvPr>
          <p:cNvSpPr txBox="1"/>
          <p:nvPr/>
        </p:nvSpPr>
        <p:spPr>
          <a:xfrm>
            <a:off x="533400" y="4406900"/>
            <a:ext cx="1701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14213D"/>
                </a:solidFill>
                <a:latin typeface="Aptos" panose="020B0004020202020204" pitchFamily="34" charset="0"/>
              </a:rPr>
              <a:t>Frozen sample</a:t>
            </a:r>
            <a:endParaRPr lang="zh-CN" altLang="en-US" sz="11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B0174C5-1168-3AA5-D282-98BDE915724A}"/>
              </a:ext>
            </a:extLst>
          </p:cNvPr>
          <p:cNvCxnSpPr/>
          <p:nvPr/>
        </p:nvCxnSpPr>
        <p:spPr>
          <a:xfrm>
            <a:off x="2349500" y="4533900"/>
            <a:ext cx="330200" cy="0"/>
          </a:xfrm>
          <a:prstGeom prst="line">
            <a:avLst/>
          </a:prstGeom>
          <a:ln w="2286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DAC3DAE-03C3-3E43-C57A-110B4363CEC0}"/>
              </a:ext>
            </a:extLst>
          </p:cNvPr>
          <p:cNvSpPr/>
          <p:nvPr/>
        </p:nvSpPr>
        <p:spPr>
          <a:xfrm>
            <a:off x="2692400" y="4191000"/>
            <a:ext cx="1905000" cy="685800"/>
          </a:xfrm>
          <a:prstGeom prst="roundRect">
            <a:avLst/>
          </a:prstGeom>
          <a:solidFill>
            <a:srgbClr val="EAF1FF"/>
          </a:solidFill>
          <a:ln w="1397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524FDEB-3A5F-78D4-0FCC-B34D3391EAE5}"/>
              </a:ext>
            </a:extLst>
          </p:cNvPr>
          <p:cNvSpPr txBox="1"/>
          <p:nvPr/>
        </p:nvSpPr>
        <p:spPr>
          <a:xfrm>
            <a:off x="2794000" y="4406900"/>
            <a:ext cx="17018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14213D"/>
                </a:solidFill>
                <a:latin typeface="Aptos" panose="020B0004020202020204" pitchFamily="34" charset="0"/>
              </a:rPr>
              <a:t>Model inference</a:t>
            </a:r>
            <a:endParaRPr lang="zh-CN" altLang="en-US" sz="11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4731577-55A1-374B-6BC3-CB8A6D77BE09}"/>
              </a:ext>
            </a:extLst>
          </p:cNvPr>
          <p:cNvCxnSpPr/>
          <p:nvPr/>
        </p:nvCxnSpPr>
        <p:spPr>
          <a:xfrm>
            <a:off x="4610100" y="4533900"/>
            <a:ext cx="330200" cy="0"/>
          </a:xfrm>
          <a:prstGeom prst="line">
            <a:avLst/>
          </a:prstGeom>
          <a:ln w="2286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873D446-771E-D37E-B99E-127B36B0F15F}"/>
              </a:ext>
            </a:extLst>
          </p:cNvPr>
          <p:cNvSpPr/>
          <p:nvPr/>
        </p:nvSpPr>
        <p:spPr>
          <a:xfrm>
            <a:off x="4953000" y="4191000"/>
            <a:ext cx="1905000" cy="685800"/>
          </a:xfrm>
          <a:prstGeom prst="roundRect">
            <a:avLst/>
          </a:prstGeom>
          <a:solidFill>
            <a:srgbClr val="EAF1FF"/>
          </a:solidFill>
          <a:ln w="1397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A729964-242A-F031-EECA-77739851E338}"/>
              </a:ext>
            </a:extLst>
          </p:cNvPr>
          <p:cNvSpPr txBox="1"/>
          <p:nvPr/>
        </p:nvSpPr>
        <p:spPr>
          <a:xfrm>
            <a:off x="5054600" y="4406900"/>
            <a:ext cx="1701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14213D"/>
                </a:solidFill>
                <a:latin typeface="Aptos" panose="020B0004020202020204" pitchFamily="34" charset="0"/>
              </a:rPr>
              <a:t>Proxy metrics</a:t>
            </a:r>
            <a:endParaRPr lang="zh-CN" altLang="en-US" sz="11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C920792-542A-713B-08F9-D89087707DC9}"/>
              </a:ext>
            </a:extLst>
          </p:cNvPr>
          <p:cNvCxnSpPr/>
          <p:nvPr/>
        </p:nvCxnSpPr>
        <p:spPr>
          <a:xfrm>
            <a:off x="6870700" y="4533900"/>
            <a:ext cx="330200" cy="0"/>
          </a:xfrm>
          <a:prstGeom prst="line">
            <a:avLst/>
          </a:prstGeom>
          <a:ln w="2286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3AD18B6-94B8-EAA6-09F0-02CCB37A69D4}"/>
              </a:ext>
            </a:extLst>
          </p:cNvPr>
          <p:cNvSpPr/>
          <p:nvPr/>
        </p:nvSpPr>
        <p:spPr>
          <a:xfrm>
            <a:off x="7213600" y="4191000"/>
            <a:ext cx="1905000" cy="685800"/>
          </a:xfrm>
          <a:prstGeom prst="roundRect">
            <a:avLst/>
          </a:prstGeom>
          <a:solidFill>
            <a:srgbClr val="EAF1FF"/>
          </a:solidFill>
          <a:ln w="1397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0740C3D-319E-F7DD-4D7B-B14C59EB82F0}"/>
              </a:ext>
            </a:extLst>
          </p:cNvPr>
          <p:cNvSpPr txBox="1"/>
          <p:nvPr/>
        </p:nvSpPr>
        <p:spPr>
          <a:xfrm>
            <a:off x="7315200" y="4406900"/>
            <a:ext cx="1701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14213D"/>
                </a:solidFill>
                <a:latin typeface="Aptos" panose="020B0004020202020204" pitchFamily="34" charset="0"/>
              </a:rPr>
              <a:t>Blind ratings</a:t>
            </a:r>
            <a:endParaRPr lang="zh-CN" altLang="en-US" sz="11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FBEFB44-BE7B-9486-F7E3-9D14FCADC50F}"/>
              </a:ext>
            </a:extLst>
          </p:cNvPr>
          <p:cNvCxnSpPr/>
          <p:nvPr/>
        </p:nvCxnSpPr>
        <p:spPr>
          <a:xfrm>
            <a:off x="9131300" y="4533900"/>
            <a:ext cx="330200" cy="0"/>
          </a:xfrm>
          <a:prstGeom prst="line">
            <a:avLst/>
          </a:prstGeom>
          <a:ln w="22860">
            <a:solidFill>
              <a:srgbClr val="6474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2DD09BA-07F0-19D7-7331-16E758ECD8E9}"/>
              </a:ext>
            </a:extLst>
          </p:cNvPr>
          <p:cNvSpPr/>
          <p:nvPr/>
        </p:nvSpPr>
        <p:spPr>
          <a:xfrm>
            <a:off x="9474200" y="4191000"/>
            <a:ext cx="1905000" cy="685800"/>
          </a:xfrm>
          <a:prstGeom prst="roundRect">
            <a:avLst/>
          </a:prstGeom>
          <a:solidFill>
            <a:srgbClr val="EAF1FF"/>
          </a:solidFill>
          <a:ln w="1397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BA4A501-CCE4-2EED-6C59-4A697167CBD1}"/>
              </a:ext>
            </a:extLst>
          </p:cNvPr>
          <p:cNvSpPr txBox="1"/>
          <p:nvPr/>
        </p:nvSpPr>
        <p:spPr>
          <a:xfrm>
            <a:off x="9575800" y="4406900"/>
            <a:ext cx="17018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14213D"/>
                </a:solidFill>
                <a:latin typeface="Aptos" panose="020B0004020202020204" pitchFamily="34" charset="0"/>
              </a:rPr>
              <a:t>Agreement analysis</a:t>
            </a:r>
            <a:endParaRPr lang="zh-CN" altLang="en-US" sz="11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D444E98-DF1D-DAC3-7B63-C6D221349E56}"/>
              </a:ext>
            </a:extLst>
          </p:cNvPr>
          <p:cNvSpPr txBox="1"/>
          <p:nvPr/>
        </p:nvSpPr>
        <p:spPr>
          <a:xfrm>
            <a:off x="431800" y="5283200"/>
            <a:ext cx="113284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1F3A5F"/>
                </a:solidFill>
                <a:latin typeface="Aptos" panose="020B0004020202020204" pitchFamily="34" charset="0"/>
              </a:rPr>
              <a:t>Tests: dimension discriminability · difficulty ordering · failure-mode validity
No model ranking is assumed in advance.</a:t>
            </a:r>
            <a:endParaRPr lang="zh-CN" altLang="en-US" sz="1200" b="1">
              <a:solidFill>
                <a:srgbClr val="1F3A5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581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04E4F75-677C-A07E-2566-D6790723487D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4213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4213D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9AE085-7A8C-89F8-429C-07C64CC0F4F2}"/>
              </a:ext>
            </a:extLst>
          </p:cNvPr>
          <p:cNvSpPr txBox="1"/>
          <p:nvPr/>
        </p:nvSpPr>
        <p:spPr>
          <a:xfrm>
            <a:off x="406400" y="127000"/>
            <a:ext cx="9652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500" b="1">
                <a:solidFill>
                  <a:srgbClr val="FFFFFF"/>
                </a:solidFill>
                <a:latin typeface="Aptos" panose="020B0004020202020204" pitchFamily="34" charset="0"/>
              </a:rPr>
              <a:t>Timeline — 12-Week Plan</a:t>
            </a:r>
            <a:endParaRPr lang="zh-CN" altLang="en-US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2C2412-F10B-D0B6-B3BE-70C50E764F37}"/>
              </a:ext>
            </a:extLst>
          </p:cNvPr>
          <p:cNvSpPr txBox="1"/>
          <p:nvPr/>
        </p:nvSpPr>
        <p:spPr>
          <a:xfrm>
            <a:off x="10096500" y="165100"/>
            <a:ext cx="1333500" cy="9233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E5EAF0"/>
                </a:solidFill>
                <a:latin typeface="Aptos" panose="020B0004020202020204" pitchFamily="34" charset="0"/>
              </a:rPr>
              <a:t>MIDTERM PROGRESS REPORT</a:t>
            </a:r>
            <a:endParaRPr lang="zh-CN" altLang="en-US" sz="800" b="1">
              <a:solidFill>
                <a:srgbClr val="E5EAF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56F1D9-4B47-20A7-CAA1-FD5AFF402404}"/>
              </a:ext>
            </a:extLst>
          </p:cNvPr>
          <p:cNvSpPr txBox="1"/>
          <p:nvPr/>
        </p:nvSpPr>
        <p:spPr>
          <a:xfrm>
            <a:off x="11493500" y="177800"/>
            <a:ext cx="3556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2C14E"/>
                </a:solidFill>
                <a:latin typeface="Aptos" panose="020B0004020202020204" pitchFamily="34" charset="0"/>
              </a:rPr>
              <a:t>12</a:t>
            </a:r>
            <a:endParaRPr lang="zh-CN" altLang="en-US" sz="1300" b="1">
              <a:solidFill>
                <a:srgbClr val="F2C14E"/>
              </a:solidFill>
              <a:latin typeface="Aptos" panose="020B00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5DFCF3-EBCB-CF95-D5C7-8B59CEEBEE17}"/>
              </a:ext>
            </a:extLst>
          </p:cNvPr>
          <p:cNvCxnSpPr/>
          <p:nvPr/>
        </p:nvCxnSpPr>
        <p:spPr>
          <a:xfrm>
            <a:off x="381000" y="6502400"/>
            <a:ext cx="11430000" cy="0"/>
          </a:xfrm>
          <a:prstGeom prst="line">
            <a:avLst/>
          </a:prstGeom>
          <a:ln w="889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2F2A89D-A217-BE53-5923-E56168C145AE}"/>
              </a:ext>
            </a:extLst>
          </p:cNvPr>
          <p:cNvSpPr txBox="1"/>
          <p:nvPr/>
        </p:nvSpPr>
        <p:spPr>
          <a:xfrm>
            <a:off x="406400" y="6553200"/>
            <a:ext cx="5334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800">
                <a:solidFill>
                  <a:srgbClr val="64748B"/>
                </a:solidFill>
                <a:latin typeface="Aptos" panose="020B0004020202020204" pitchFamily="34" charset="0"/>
              </a:rPr>
              <a:t>I2V-CompBench · Candidate benchmark under validation</a:t>
            </a:r>
            <a:endParaRPr lang="zh-CN" altLang="en-US" sz="8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446527-E216-2ABC-FCDD-B064C57612EC}"/>
              </a:ext>
            </a:extLst>
          </p:cNvPr>
          <p:cNvSpPr txBox="1"/>
          <p:nvPr/>
        </p:nvSpPr>
        <p:spPr>
          <a:xfrm>
            <a:off x="457200" y="1117600"/>
            <a:ext cx="2286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300" b="1">
                <a:solidFill>
                  <a:srgbClr val="14213D"/>
                </a:solidFill>
                <a:latin typeface="Aptos" panose="020B0004020202020204" pitchFamily="34" charset="0"/>
              </a:rPr>
              <a:t>Work package</a:t>
            </a:r>
            <a:endParaRPr lang="zh-CN" altLang="en-US" sz="1300" b="1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3310BC-DF15-8D08-DB6A-5323919D99DC}"/>
              </a:ext>
            </a:extLst>
          </p:cNvPr>
          <p:cNvSpPr txBox="1"/>
          <p:nvPr/>
        </p:nvSpPr>
        <p:spPr>
          <a:xfrm>
            <a:off x="2921000" y="1117600"/>
            <a:ext cx="7239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64748B"/>
                </a:solidFill>
                <a:latin typeface="Aptos" panose="020B0004020202020204" pitchFamily="34" charset="0"/>
              </a:rPr>
              <a:t>W1</a:t>
            </a:r>
            <a:endParaRPr lang="zh-CN" altLang="en-US" sz="10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C212882-6C75-D5B0-9377-F4B38DA21251}"/>
              </a:ext>
            </a:extLst>
          </p:cNvPr>
          <p:cNvCxnSpPr/>
          <p:nvPr/>
        </p:nvCxnSpPr>
        <p:spPr>
          <a:xfrm>
            <a:off x="2921000" y="1473200"/>
            <a:ext cx="0" cy="4013200"/>
          </a:xfrm>
          <a:prstGeom prst="line">
            <a:avLst/>
          </a:prstGeom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7F0FBB8-7E7D-623D-97C2-8A4912C4EF1D}"/>
              </a:ext>
            </a:extLst>
          </p:cNvPr>
          <p:cNvSpPr txBox="1"/>
          <p:nvPr/>
        </p:nvSpPr>
        <p:spPr>
          <a:xfrm>
            <a:off x="3644900" y="1117600"/>
            <a:ext cx="7239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64748B"/>
                </a:solidFill>
                <a:latin typeface="Aptos" panose="020B0004020202020204" pitchFamily="34" charset="0"/>
              </a:rPr>
              <a:t>W2</a:t>
            </a:r>
            <a:endParaRPr lang="zh-CN" altLang="en-US" sz="10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1BB5BC0-47E1-CC77-3B07-B1AD1DF8ECAA}"/>
              </a:ext>
            </a:extLst>
          </p:cNvPr>
          <p:cNvCxnSpPr/>
          <p:nvPr/>
        </p:nvCxnSpPr>
        <p:spPr>
          <a:xfrm>
            <a:off x="3644900" y="1473200"/>
            <a:ext cx="0" cy="4013200"/>
          </a:xfrm>
          <a:prstGeom prst="line">
            <a:avLst/>
          </a:prstGeom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B62F2AD-6E5B-97D2-D9DB-04B077C50EE0}"/>
              </a:ext>
            </a:extLst>
          </p:cNvPr>
          <p:cNvSpPr txBox="1"/>
          <p:nvPr/>
        </p:nvSpPr>
        <p:spPr>
          <a:xfrm>
            <a:off x="4368800" y="1117600"/>
            <a:ext cx="7239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64748B"/>
                </a:solidFill>
                <a:latin typeface="Aptos" panose="020B0004020202020204" pitchFamily="34" charset="0"/>
              </a:rPr>
              <a:t>W3</a:t>
            </a:r>
            <a:endParaRPr lang="zh-CN" altLang="en-US" sz="10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6D4D69C-4AE2-9D19-9C54-168F3D5EAAE4}"/>
              </a:ext>
            </a:extLst>
          </p:cNvPr>
          <p:cNvCxnSpPr/>
          <p:nvPr/>
        </p:nvCxnSpPr>
        <p:spPr>
          <a:xfrm>
            <a:off x="4368800" y="1473200"/>
            <a:ext cx="0" cy="4013200"/>
          </a:xfrm>
          <a:prstGeom prst="line">
            <a:avLst/>
          </a:prstGeom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BC20EA3B-A8F9-A88B-46A5-7F068E292D11}"/>
              </a:ext>
            </a:extLst>
          </p:cNvPr>
          <p:cNvSpPr txBox="1"/>
          <p:nvPr/>
        </p:nvSpPr>
        <p:spPr>
          <a:xfrm>
            <a:off x="5092700" y="1117600"/>
            <a:ext cx="7239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64748B"/>
                </a:solidFill>
                <a:latin typeface="Aptos" panose="020B0004020202020204" pitchFamily="34" charset="0"/>
              </a:rPr>
              <a:t>W4</a:t>
            </a:r>
            <a:endParaRPr lang="zh-CN" altLang="en-US" sz="10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90EDADC-BEC7-583C-0F84-7135A344AA32}"/>
              </a:ext>
            </a:extLst>
          </p:cNvPr>
          <p:cNvCxnSpPr/>
          <p:nvPr/>
        </p:nvCxnSpPr>
        <p:spPr>
          <a:xfrm>
            <a:off x="5092700" y="1473200"/>
            <a:ext cx="0" cy="4013200"/>
          </a:xfrm>
          <a:prstGeom prst="line">
            <a:avLst/>
          </a:prstGeom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59D8F2F6-41D7-1EC9-F694-04902944DF76}"/>
              </a:ext>
            </a:extLst>
          </p:cNvPr>
          <p:cNvSpPr txBox="1"/>
          <p:nvPr/>
        </p:nvSpPr>
        <p:spPr>
          <a:xfrm>
            <a:off x="5816600" y="1117600"/>
            <a:ext cx="7239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64748B"/>
                </a:solidFill>
                <a:latin typeface="Aptos" panose="020B0004020202020204" pitchFamily="34" charset="0"/>
              </a:rPr>
              <a:t>W5</a:t>
            </a:r>
            <a:endParaRPr lang="zh-CN" altLang="en-US" sz="10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850C171-80F5-F0C5-C254-5D8BEA52D111}"/>
              </a:ext>
            </a:extLst>
          </p:cNvPr>
          <p:cNvCxnSpPr/>
          <p:nvPr/>
        </p:nvCxnSpPr>
        <p:spPr>
          <a:xfrm>
            <a:off x="5816600" y="1473200"/>
            <a:ext cx="0" cy="4013200"/>
          </a:xfrm>
          <a:prstGeom prst="line">
            <a:avLst/>
          </a:prstGeom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FE1D8C3-ADEA-E229-03F9-D9CBA473C050}"/>
              </a:ext>
            </a:extLst>
          </p:cNvPr>
          <p:cNvSpPr txBox="1"/>
          <p:nvPr/>
        </p:nvSpPr>
        <p:spPr>
          <a:xfrm>
            <a:off x="6540500" y="1117600"/>
            <a:ext cx="7239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64748B"/>
                </a:solidFill>
                <a:latin typeface="Aptos" panose="020B0004020202020204" pitchFamily="34" charset="0"/>
              </a:rPr>
              <a:t>W6</a:t>
            </a:r>
            <a:endParaRPr lang="zh-CN" altLang="en-US" sz="10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9B12443-4B5D-37E6-19DD-C22EF0FFB340}"/>
              </a:ext>
            </a:extLst>
          </p:cNvPr>
          <p:cNvCxnSpPr/>
          <p:nvPr/>
        </p:nvCxnSpPr>
        <p:spPr>
          <a:xfrm>
            <a:off x="6540500" y="1473200"/>
            <a:ext cx="0" cy="4013200"/>
          </a:xfrm>
          <a:prstGeom prst="line">
            <a:avLst/>
          </a:prstGeom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2C7DB-C1E2-6B21-8186-346E228698CF}"/>
              </a:ext>
            </a:extLst>
          </p:cNvPr>
          <p:cNvSpPr txBox="1"/>
          <p:nvPr/>
        </p:nvSpPr>
        <p:spPr>
          <a:xfrm>
            <a:off x="7264400" y="1117600"/>
            <a:ext cx="7239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64748B"/>
                </a:solidFill>
                <a:latin typeface="Aptos" panose="020B0004020202020204" pitchFamily="34" charset="0"/>
              </a:rPr>
              <a:t>W7</a:t>
            </a:r>
            <a:endParaRPr lang="zh-CN" altLang="en-US" sz="10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139C728-4D83-C628-3A0F-1D70DA602E84}"/>
              </a:ext>
            </a:extLst>
          </p:cNvPr>
          <p:cNvCxnSpPr/>
          <p:nvPr/>
        </p:nvCxnSpPr>
        <p:spPr>
          <a:xfrm>
            <a:off x="7264400" y="1473200"/>
            <a:ext cx="0" cy="4013200"/>
          </a:xfrm>
          <a:prstGeom prst="line">
            <a:avLst/>
          </a:prstGeom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BBB13B36-D207-57FA-00A7-519B3A2BBCED}"/>
              </a:ext>
            </a:extLst>
          </p:cNvPr>
          <p:cNvSpPr txBox="1"/>
          <p:nvPr/>
        </p:nvSpPr>
        <p:spPr>
          <a:xfrm>
            <a:off x="7988300" y="1117600"/>
            <a:ext cx="7239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64748B"/>
                </a:solidFill>
                <a:latin typeface="Aptos" panose="020B0004020202020204" pitchFamily="34" charset="0"/>
              </a:rPr>
              <a:t>W8</a:t>
            </a:r>
            <a:endParaRPr lang="zh-CN" altLang="en-US" sz="10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08D9497-9F76-AFD6-AEE4-59524CDDD636}"/>
              </a:ext>
            </a:extLst>
          </p:cNvPr>
          <p:cNvCxnSpPr/>
          <p:nvPr/>
        </p:nvCxnSpPr>
        <p:spPr>
          <a:xfrm>
            <a:off x="7988300" y="1473200"/>
            <a:ext cx="0" cy="4013200"/>
          </a:xfrm>
          <a:prstGeom prst="line">
            <a:avLst/>
          </a:prstGeom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F7FC95B-A4DC-1372-5A20-3822C02277A0}"/>
              </a:ext>
            </a:extLst>
          </p:cNvPr>
          <p:cNvSpPr txBox="1"/>
          <p:nvPr/>
        </p:nvSpPr>
        <p:spPr>
          <a:xfrm>
            <a:off x="8712200" y="1117600"/>
            <a:ext cx="7239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64748B"/>
                </a:solidFill>
                <a:latin typeface="Aptos" panose="020B0004020202020204" pitchFamily="34" charset="0"/>
              </a:rPr>
              <a:t>W9</a:t>
            </a:r>
            <a:endParaRPr lang="zh-CN" altLang="en-US" sz="10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88E9654-7513-B2E6-E079-21EB33FAC01E}"/>
              </a:ext>
            </a:extLst>
          </p:cNvPr>
          <p:cNvCxnSpPr/>
          <p:nvPr/>
        </p:nvCxnSpPr>
        <p:spPr>
          <a:xfrm>
            <a:off x="8712200" y="1473200"/>
            <a:ext cx="0" cy="4013200"/>
          </a:xfrm>
          <a:prstGeom prst="line">
            <a:avLst/>
          </a:prstGeom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A0704B3A-99E2-0E5A-9D86-54CFC9A60168}"/>
              </a:ext>
            </a:extLst>
          </p:cNvPr>
          <p:cNvSpPr txBox="1"/>
          <p:nvPr/>
        </p:nvSpPr>
        <p:spPr>
          <a:xfrm>
            <a:off x="9436100" y="1117600"/>
            <a:ext cx="7239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64748B"/>
                </a:solidFill>
                <a:latin typeface="Aptos" panose="020B0004020202020204" pitchFamily="34" charset="0"/>
              </a:rPr>
              <a:t>W10</a:t>
            </a:r>
            <a:endParaRPr lang="zh-CN" altLang="en-US" sz="10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1C80513-F621-D6C7-F47F-6C005CDB8C5B}"/>
              </a:ext>
            </a:extLst>
          </p:cNvPr>
          <p:cNvCxnSpPr/>
          <p:nvPr/>
        </p:nvCxnSpPr>
        <p:spPr>
          <a:xfrm>
            <a:off x="9436100" y="1473200"/>
            <a:ext cx="0" cy="4013200"/>
          </a:xfrm>
          <a:prstGeom prst="line">
            <a:avLst/>
          </a:prstGeom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DEA8B63D-A881-FF9D-8AC5-5F23466A8582}"/>
              </a:ext>
            </a:extLst>
          </p:cNvPr>
          <p:cNvSpPr txBox="1"/>
          <p:nvPr/>
        </p:nvSpPr>
        <p:spPr>
          <a:xfrm>
            <a:off x="10160000" y="1117600"/>
            <a:ext cx="7239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64748B"/>
                </a:solidFill>
                <a:latin typeface="Aptos" panose="020B0004020202020204" pitchFamily="34" charset="0"/>
              </a:rPr>
              <a:t>W11</a:t>
            </a:r>
            <a:endParaRPr lang="zh-CN" altLang="en-US" sz="10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80CE2DB-5F55-A374-4252-70B06DEAC7C0}"/>
              </a:ext>
            </a:extLst>
          </p:cNvPr>
          <p:cNvCxnSpPr/>
          <p:nvPr/>
        </p:nvCxnSpPr>
        <p:spPr>
          <a:xfrm>
            <a:off x="10160000" y="1473200"/>
            <a:ext cx="0" cy="4013200"/>
          </a:xfrm>
          <a:prstGeom prst="line">
            <a:avLst/>
          </a:prstGeom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D7CD92A3-E746-7602-DDF6-0DAD55A034FC}"/>
              </a:ext>
            </a:extLst>
          </p:cNvPr>
          <p:cNvSpPr txBox="1"/>
          <p:nvPr/>
        </p:nvSpPr>
        <p:spPr>
          <a:xfrm>
            <a:off x="10883900" y="1117600"/>
            <a:ext cx="7239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64748B"/>
                </a:solidFill>
                <a:latin typeface="Aptos" panose="020B0004020202020204" pitchFamily="34" charset="0"/>
              </a:rPr>
              <a:t>W12</a:t>
            </a:r>
            <a:endParaRPr lang="zh-CN" altLang="en-US" sz="10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DABD4E63-A024-9D97-A7F8-643BB61B3A36}"/>
              </a:ext>
            </a:extLst>
          </p:cNvPr>
          <p:cNvCxnSpPr/>
          <p:nvPr/>
        </p:nvCxnSpPr>
        <p:spPr>
          <a:xfrm>
            <a:off x="10883900" y="1473200"/>
            <a:ext cx="0" cy="4013200"/>
          </a:xfrm>
          <a:prstGeom prst="line">
            <a:avLst/>
          </a:prstGeom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1F002A16-1A32-45F5-65A2-BB5BC24AECC6}"/>
              </a:ext>
            </a:extLst>
          </p:cNvPr>
          <p:cNvCxnSpPr/>
          <p:nvPr/>
        </p:nvCxnSpPr>
        <p:spPr>
          <a:xfrm>
            <a:off x="11607800" y="1473200"/>
            <a:ext cx="0" cy="4013200"/>
          </a:xfrm>
          <a:prstGeom prst="line">
            <a:avLst/>
          </a:prstGeom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9909067B-B443-80F9-D248-7B3182C88014}"/>
              </a:ext>
            </a:extLst>
          </p:cNvPr>
          <p:cNvSpPr txBox="1"/>
          <p:nvPr/>
        </p:nvSpPr>
        <p:spPr>
          <a:xfrm>
            <a:off x="457200" y="1651000"/>
            <a:ext cx="233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100" b="1">
                <a:solidFill>
                  <a:srgbClr val="1F2937"/>
                </a:solidFill>
                <a:latin typeface="Aptos" panose="020B0004020202020204" pitchFamily="34" charset="0"/>
              </a:rPr>
              <a:t>Close P0 + freeze</a:t>
            </a:r>
            <a:endParaRPr lang="zh-CN" altLang="en-US" sz="11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A542C1C-CBCE-04AD-2EA2-F940A4D13826}"/>
              </a:ext>
            </a:extLst>
          </p:cNvPr>
          <p:cNvSpPr txBox="1"/>
          <p:nvPr/>
        </p:nvSpPr>
        <p:spPr>
          <a:xfrm>
            <a:off x="457200" y="1955800"/>
            <a:ext cx="233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900">
                <a:solidFill>
                  <a:srgbClr val="64748B"/>
                </a:solidFill>
                <a:latin typeface="Aptos" panose="020B0004020202020204" pitchFamily="34" charset="0"/>
              </a:rPr>
              <a:t>Audited manifest</a:t>
            </a:r>
            <a:endParaRPr lang="zh-CN" altLang="en-US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6A29B92-7565-3EBD-17EB-8CF52364F140}"/>
              </a:ext>
            </a:extLst>
          </p:cNvPr>
          <p:cNvSpPr/>
          <p:nvPr/>
        </p:nvSpPr>
        <p:spPr>
          <a:xfrm>
            <a:off x="2959100" y="1701800"/>
            <a:ext cx="1371600" cy="355600"/>
          </a:xfrm>
          <a:prstGeom prst="roundRect">
            <a:avLst/>
          </a:prstGeom>
          <a:solidFill>
            <a:srgbClr val="D64545"/>
          </a:solidFill>
          <a:ln w="0">
            <a:solidFill>
              <a:srgbClr val="D64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E9E2C53-C379-6D84-B965-ACC084800D42}"/>
              </a:ext>
            </a:extLst>
          </p:cNvPr>
          <p:cNvSpPr txBox="1"/>
          <p:nvPr/>
        </p:nvSpPr>
        <p:spPr>
          <a:xfrm>
            <a:off x="2959100" y="1752600"/>
            <a:ext cx="1371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 b="1">
                <a:solidFill>
                  <a:srgbClr val="FFFFFF"/>
                </a:solidFill>
                <a:latin typeface="Aptos" panose="020B0004020202020204" pitchFamily="34" charset="0"/>
              </a:rPr>
              <a:t>W1–W2</a:t>
            </a:r>
            <a:endParaRPr lang="zh-CN" altLang="en-US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1379124-9432-DA3F-A0F6-29880B36CD09}"/>
              </a:ext>
            </a:extLst>
          </p:cNvPr>
          <p:cNvSpPr txBox="1"/>
          <p:nvPr/>
        </p:nvSpPr>
        <p:spPr>
          <a:xfrm>
            <a:off x="457200" y="2438400"/>
            <a:ext cx="233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100" b="1">
                <a:solidFill>
                  <a:srgbClr val="1F2937"/>
                </a:solidFill>
                <a:latin typeface="Aptos" panose="020B0004020202020204" pitchFamily="34" charset="0"/>
              </a:rPr>
              <a:t>Calibrate P1–P4</a:t>
            </a:r>
            <a:endParaRPr lang="zh-CN" altLang="en-US" sz="11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15404A7-99FE-9890-50D0-2417A6468E14}"/>
              </a:ext>
            </a:extLst>
          </p:cNvPr>
          <p:cNvSpPr txBox="1"/>
          <p:nvPr/>
        </p:nvSpPr>
        <p:spPr>
          <a:xfrm>
            <a:off x="457200" y="2743200"/>
            <a:ext cx="233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900">
                <a:solidFill>
                  <a:srgbClr val="64748B"/>
                </a:solidFill>
                <a:latin typeface="Aptos" panose="020B0004020202020204" pitchFamily="34" charset="0"/>
              </a:rPr>
              <a:t>Frozen quality rules</a:t>
            </a:r>
            <a:endParaRPr lang="zh-CN" altLang="en-US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9D0CFC2-2B1A-3888-F575-BDC615B015F3}"/>
              </a:ext>
            </a:extLst>
          </p:cNvPr>
          <p:cNvSpPr/>
          <p:nvPr/>
        </p:nvSpPr>
        <p:spPr>
          <a:xfrm>
            <a:off x="4406900" y="2489200"/>
            <a:ext cx="1371600" cy="355600"/>
          </a:xfrm>
          <a:prstGeom prst="roundRect">
            <a:avLst/>
          </a:prstGeom>
          <a:solidFill>
            <a:srgbClr val="F28C28"/>
          </a:solidFill>
          <a:ln w="0">
            <a:solidFill>
              <a:srgbClr val="F28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4A4505D-DE77-0BB6-EECE-5DD680271F9D}"/>
              </a:ext>
            </a:extLst>
          </p:cNvPr>
          <p:cNvSpPr txBox="1"/>
          <p:nvPr/>
        </p:nvSpPr>
        <p:spPr>
          <a:xfrm>
            <a:off x="4406900" y="2540000"/>
            <a:ext cx="1371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 b="1">
                <a:solidFill>
                  <a:srgbClr val="FFFFFF"/>
                </a:solidFill>
                <a:latin typeface="Aptos" panose="020B0004020202020204" pitchFamily="34" charset="0"/>
              </a:rPr>
              <a:t>W3–W4</a:t>
            </a:r>
            <a:endParaRPr lang="zh-CN" altLang="en-US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A7A9C62-E62A-D1F7-68ED-4D9CA2A66A2A}"/>
              </a:ext>
            </a:extLst>
          </p:cNvPr>
          <p:cNvSpPr txBox="1"/>
          <p:nvPr/>
        </p:nvSpPr>
        <p:spPr>
          <a:xfrm>
            <a:off x="457200" y="3225800"/>
            <a:ext cx="23368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100" b="1">
                <a:solidFill>
                  <a:srgbClr val="1F2937"/>
                </a:solidFill>
                <a:latin typeface="Aptos" panose="020B0004020202020204" pitchFamily="34" charset="0"/>
              </a:rPr>
              <a:t>Build release candidate</a:t>
            </a:r>
            <a:endParaRPr lang="zh-CN" altLang="en-US" sz="11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F4A5EA5-41B8-3F20-5CD4-B3E2F4978B34}"/>
              </a:ext>
            </a:extLst>
          </p:cNvPr>
          <p:cNvSpPr txBox="1"/>
          <p:nvPr/>
        </p:nvSpPr>
        <p:spPr>
          <a:xfrm>
            <a:off x="457200" y="3530600"/>
            <a:ext cx="233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900">
                <a:solidFill>
                  <a:srgbClr val="64748B"/>
                </a:solidFill>
                <a:latin typeface="Aptos" panose="020B0004020202020204" pitchFamily="34" charset="0"/>
              </a:rPr>
              <a:t>5 × 300 package</a:t>
            </a:r>
            <a:endParaRPr lang="zh-CN" altLang="en-US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1E0BA5D-9507-1292-5BA7-4CFFB662DD03}"/>
              </a:ext>
            </a:extLst>
          </p:cNvPr>
          <p:cNvSpPr/>
          <p:nvPr/>
        </p:nvSpPr>
        <p:spPr>
          <a:xfrm>
            <a:off x="5854700" y="3276600"/>
            <a:ext cx="1371600" cy="355600"/>
          </a:xfrm>
          <a:prstGeom prst="roundRect">
            <a:avLst/>
          </a:prstGeom>
          <a:solidFill>
            <a:srgbClr val="2F6BFF"/>
          </a:solidFill>
          <a:ln w="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8FE4E54-E039-5552-1160-685FA9C880BC}"/>
              </a:ext>
            </a:extLst>
          </p:cNvPr>
          <p:cNvSpPr txBox="1"/>
          <p:nvPr/>
        </p:nvSpPr>
        <p:spPr>
          <a:xfrm>
            <a:off x="5854700" y="3327400"/>
            <a:ext cx="1371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 b="1">
                <a:solidFill>
                  <a:srgbClr val="FFFFFF"/>
                </a:solidFill>
                <a:latin typeface="Aptos" panose="020B0004020202020204" pitchFamily="34" charset="0"/>
              </a:rPr>
              <a:t>W5–W6</a:t>
            </a:r>
            <a:endParaRPr lang="zh-CN" altLang="en-US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756AC2D-AEEE-5BF3-D2AF-16C93EB53880}"/>
              </a:ext>
            </a:extLst>
          </p:cNvPr>
          <p:cNvSpPr txBox="1"/>
          <p:nvPr/>
        </p:nvSpPr>
        <p:spPr>
          <a:xfrm>
            <a:off x="457200" y="4013200"/>
            <a:ext cx="23368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100" b="1">
                <a:solidFill>
                  <a:srgbClr val="1F2937"/>
                </a:solidFill>
                <a:latin typeface="Aptos" panose="020B0004020202020204" pitchFamily="34" charset="0"/>
              </a:rPr>
              <a:t>Validity + human study</a:t>
            </a:r>
            <a:endParaRPr lang="zh-CN" altLang="en-US" sz="11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F4BBAF2-0D1D-B805-50DB-0A19BC0E859B}"/>
              </a:ext>
            </a:extLst>
          </p:cNvPr>
          <p:cNvSpPr txBox="1"/>
          <p:nvPr/>
        </p:nvSpPr>
        <p:spPr>
          <a:xfrm>
            <a:off x="457200" y="4318000"/>
            <a:ext cx="233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900">
                <a:solidFill>
                  <a:srgbClr val="64748B"/>
                </a:solidFill>
                <a:latin typeface="Aptos" panose="020B0004020202020204" pitchFamily="34" charset="0"/>
              </a:rPr>
              <a:t>Agreement statistics</a:t>
            </a:r>
            <a:endParaRPr lang="zh-CN" altLang="en-US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A912D6A5-94B6-562D-FB86-18E8CB142220}"/>
              </a:ext>
            </a:extLst>
          </p:cNvPr>
          <p:cNvSpPr/>
          <p:nvPr/>
        </p:nvSpPr>
        <p:spPr>
          <a:xfrm>
            <a:off x="7302500" y="4064000"/>
            <a:ext cx="2095500" cy="355600"/>
          </a:xfrm>
          <a:prstGeom prst="roundRect">
            <a:avLst/>
          </a:prstGeom>
          <a:solidFill>
            <a:srgbClr val="00A7B5"/>
          </a:solidFill>
          <a:ln w="0">
            <a:solidFill>
              <a:srgbClr val="00A7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1DC1EA0-8AF7-34EF-77EF-8BC406641E14}"/>
              </a:ext>
            </a:extLst>
          </p:cNvPr>
          <p:cNvSpPr txBox="1"/>
          <p:nvPr/>
        </p:nvSpPr>
        <p:spPr>
          <a:xfrm>
            <a:off x="7302500" y="4114800"/>
            <a:ext cx="20955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 b="1">
                <a:solidFill>
                  <a:srgbClr val="FFFFFF"/>
                </a:solidFill>
                <a:latin typeface="Aptos" panose="020B0004020202020204" pitchFamily="34" charset="0"/>
              </a:rPr>
              <a:t>W7–W9</a:t>
            </a:r>
            <a:endParaRPr lang="zh-CN" altLang="en-US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AB336FE-36EA-7E55-43D0-20BD7AF9AB0B}"/>
              </a:ext>
            </a:extLst>
          </p:cNvPr>
          <p:cNvSpPr txBox="1"/>
          <p:nvPr/>
        </p:nvSpPr>
        <p:spPr>
          <a:xfrm>
            <a:off x="457200" y="4800600"/>
            <a:ext cx="233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100" b="1">
                <a:solidFill>
                  <a:srgbClr val="1F2937"/>
                </a:solidFill>
                <a:latin typeface="Aptos" panose="020B0004020202020204" pitchFamily="34" charset="0"/>
              </a:rPr>
              <a:t>Thesis + dataset card</a:t>
            </a:r>
            <a:endParaRPr lang="zh-CN" altLang="en-US" sz="1100" b="1">
              <a:solidFill>
                <a:srgbClr val="1F2937"/>
              </a:solidFill>
              <a:latin typeface="Aptos" panose="020B00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A8CF2AC-2358-EF51-8DE8-A68DE251E8F9}"/>
              </a:ext>
            </a:extLst>
          </p:cNvPr>
          <p:cNvSpPr txBox="1"/>
          <p:nvPr/>
        </p:nvSpPr>
        <p:spPr>
          <a:xfrm>
            <a:off x="457200" y="5105400"/>
            <a:ext cx="23368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900">
                <a:solidFill>
                  <a:srgbClr val="64748B"/>
                </a:solidFill>
                <a:latin typeface="Aptos" panose="020B0004020202020204" pitchFamily="34" charset="0"/>
              </a:rPr>
              <a:t>Draft + documentation</a:t>
            </a:r>
            <a:endParaRPr lang="zh-CN" altLang="en-US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0FBE4CF4-C6BF-564A-C1FA-D27AB7212FE8}"/>
              </a:ext>
            </a:extLst>
          </p:cNvPr>
          <p:cNvSpPr/>
          <p:nvPr/>
        </p:nvSpPr>
        <p:spPr>
          <a:xfrm>
            <a:off x="9474200" y="4851400"/>
            <a:ext cx="2095500" cy="355600"/>
          </a:xfrm>
          <a:prstGeom prst="roundRect">
            <a:avLst/>
          </a:prstGeom>
          <a:solidFill>
            <a:srgbClr val="2E8B57"/>
          </a:solidFill>
          <a:ln w="0">
            <a:solidFill>
              <a:srgbClr val="2E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0BAE5AA-C26E-9F1B-4D43-02196C43EFBA}"/>
              </a:ext>
            </a:extLst>
          </p:cNvPr>
          <p:cNvSpPr txBox="1"/>
          <p:nvPr/>
        </p:nvSpPr>
        <p:spPr>
          <a:xfrm>
            <a:off x="9474200" y="4902200"/>
            <a:ext cx="20955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900" b="1">
                <a:solidFill>
                  <a:srgbClr val="FFFFFF"/>
                </a:solidFill>
                <a:latin typeface="Aptos" panose="020B0004020202020204" pitchFamily="34" charset="0"/>
              </a:rPr>
              <a:t>W10–W12</a:t>
            </a:r>
            <a:endParaRPr lang="zh-CN" altLang="en-US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9220300-CCF6-0AA6-B352-1CC781CC6568}"/>
              </a:ext>
            </a:extLst>
          </p:cNvPr>
          <p:cNvSpPr txBox="1"/>
          <p:nvPr/>
        </p:nvSpPr>
        <p:spPr>
          <a:xfrm>
            <a:off x="457200" y="5867400"/>
            <a:ext cx="112776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1F3A5F"/>
                </a:solidFill>
                <a:latin typeface="Aptos" panose="020B0004020202020204" pitchFamily="34" charset="0"/>
              </a:rPr>
              <a:t>Each stage ends with an auditable deliverable—not merely a completed run.</a:t>
            </a:r>
            <a:endParaRPr lang="zh-CN" altLang="en-US" sz="1100" b="1">
              <a:solidFill>
                <a:srgbClr val="1F3A5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821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BD50FB9-B516-B9DC-1276-25F5EEAB8D90}"/>
              </a:ext>
            </a:extLst>
          </p:cNvPr>
          <p:cNvSpPr txBox="1"/>
          <p:nvPr/>
        </p:nvSpPr>
        <p:spPr>
          <a:xfrm>
            <a:off x="558800" y="457200"/>
            <a:ext cx="9652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600" b="1">
                <a:solidFill>
                  <a:srgbClr val="FFFFFF"/>
                </a:solidFill>
                <a:latin typeface="Aptos" panose="020B0004020202020204" pitchFamily="34" charset="0"/>
              </a:rPr>
              <a:t>Interim Contributions &amp; Next Phase</a:t>
            </a:r>
            <a:endParaRPr lang="zh-CN" altLang="en-US" sz="2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92AACAA-940F-2EF5-00ED-A617442FE8FB}"/>
              </a:ext>
            </a:extLst>
          </p:cNvPr>
          <p:cNvSpPr/>
          <p:nvPr/>
        </p:nvSpPr>
        <p:spPr>
          <a:xfrm>
            <a:off x="558800" y="1422400"/>
            <a:ext cx="4978400" cy="1498600"/>
          </a:xfrm>
          <a:prstGeom prst="roundRect">
            <a:avLst/>
          </a:prstGeom>
          <a:solidFill>
            <a:srgbClr val="1F3A5F"/>
          </a:solidFill>
          <a:ln w="16510">
            <a:solidFill>
              <a:srgbClr val="00A7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B9BCF1-A579-7AD0-FE68-F2F7F88EEB5E}"/>
              </a:ext>
            </a:extLst>
          </p:cNvPr>
          <p:cNvSpPr txBox="1"/>
          <p:nvPr/>
        </p:nvSpPr>
        <p:spPr>
          <a:xfrm>
            <a:off x="787400" y="1600200"/>
            <a:ext cx="685800" cy="38100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000" b="1">
                <a:solidFill>
                  <a:srgbClr val="00A7B5"/>
                </a:solidFill>
                <a:latin typeface="Aptos" panose="020B0004020202020204" pitchFamily="34" charset="0"/>
              </a:rPr>
              <a:t>01</a:t>
            </a:r>
            <a:endParaRPr lang="zh-CN" altLang="en-US" sz="2000" b="1">
              <a:solidFill>
                <a:srgbClr val="00A7B5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EADBCB-A604-FA94-F550-3C9D3F0AB572}"/>
              </a:ext>
            </a:extLst>
          </p:cNvPr>
          <p:cNvSpPr txBox="1"/>
          <p:nvPr/>
        </p:nvSpPr>
        <p:spPr>
          <a:xfrm>
            <a:off x="1549400" y="1600200"/>
            <a:ext cx="3683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FFFFFF"/>
                </a:solidFill>
                <a:latin typeface="Aptos" panose="020B0004020202020204" pitchFamily="34" charset="0"/>
              </a:rPr>
              <a:t>Preserve–Transform framework</a:t>
            </a:r>
            <a:endParaRPr lang="zh-CN" altLang="en-US" sz="1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E57190-F884-7D05-C9EA-29E28D312807}"/>
              </a:ext>
            </a:extLst>
          </p:cNvPr>
          <p:cNvSpPr txBox="1"/>
          <p:nvPr/>
        </p:nvSpPr>
        <p:spPr>
          <a:xfrm>
            <a:off x="1549400" y="2082800"/>
            <a:ext cx="3683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100">
                <a:solidFill>
                  <a:srgbClr val="E5EAF0"/>
                </a:solidFill>
                <a:latin typeface="Aptos" panose="020B0004020202020204" pitchFamily="34" charset="0"/>
              </a:rPr>
              <a:t>Explicit change + preservation constraints</a:t>
            </a:r>
            <a:endParaRPr lang="zh-CN" altLang="en-US" sz="1100">
              <a:solidFill>
                <a:srgbClr val="E5EAF0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E913D4A-4E28-7232-9D49-BED24160189B}"/>
              </a:ext>
            </a:extLst>
          </p:cNvPr>
          <p:cNvSpPr/>
          <p:nvPr/>
        </p:nvSpPr>
        <p:spPr>
          <a:xfrm>
            <a:off x="5969000" y="1422400"/>
            <a:ext cx="4978400" cy="1498600"/>
          </a:xfrm>
          <a:prstGeom prst="roundRect">
            <a:avLst/>
          </a:prstGeom>
          <a:solidFill>
            <a:srgbClr val="1F3A5F"/>
          </a:solidFill>
          <a:ln w="16510">
            <a:solidFill>
              <a:srgbClr val="2F6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34D6FA-05FF-B000-B643-CA0809CBF8EF}"/>
              </a:ext>
            </a:extLst>
          </p:cNvPr>
          <p:cNvSpPr txBox="1"/>
          <p:nvPr/>
        </p:nvSpPr>
        <p:spPr>
          <a:xfrm>
            <a:off x="6197600" y="1600200"/>
            <a:ext cx="685800" cy="38100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000" b="1">
                <a:solidFill>
                  <a:srgbClr val="2F6BFF"/>
                </a:solidFill>
                <a:latin typeface="Aptos" panose="020B0004020202020204" pitchFamily="34" charset="0"/>
              </a:rPr>
              <a:t>02</a:t>
            </a:r>
            <a:endParaRPr lang="zh-CN" altLang="en-US" sz="2000" b="1">
              <a:solidFill>
                <a:srgbClr val="2F6BFF"/>
              </a:solidFill>
              <a:latin typeface="Aptos" panose="020B00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60A709-DBA8-DFF5-F27D-A97B780B206C}"/>
              </a:ext>
            </a:extLst>
          </p:cNvPr>
          <p:cNvSpPr txBox="1"/>
          <p:nvPr/>
        </p:nvSpPr>
        <p:spPr>
          <a:xfrm>
            <a:off x="6959600" y="1600200"/>
            <a:ext cx="3683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FFFFFF"/>
                </a:solidFill>
                <a:latin typeface="Aptos" panose="020B0004020202020204" pitchFamily="34" charset="0"/>
              </a:rPr>
              <a:t>Prior-grounded pipeline</a:t>
            </a:r>
            <a:endParaRPr lang="zh-CN" altLang="en-US" sz="1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B8254FA-B5A1-07FB-A443-F54146973A16}"/>
              </a:ext>
            </a:extLst>
          </p:cNvPr>
          <p:cNvSpPr txBox="1"/>
          <p:nvPr/>
        </p:nvSpPr>
        <p:spPr>
          <a:xfrm>
            <a:off x="6959600" y="2082800"/>
            <a:ext cx="3683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100">
                <a:solidFill>
                  <a:srgbClr val="E5EAF0"/>
                </a:solidFill>
                <a:latin typeface="Aptos" panose="020B0004020202020204" pitchFamily="34" charset="0"/>
              </a:rPr>
              <a:t>Candidate construction traceable to TIP-I2V</a:t>
            </a:r>
            <a:endParaRPr lang="zh-CN" altLang="en-US" sz="1100">
              <a:solidFill>
                <a:srgbClr val="E5EAF0"/>
              </a:solidFill>
              <a:latin typeface="Aptos" panose="020B00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4D5D31E-0896-ED39-0F30-DA21B41518ED}"/>
              </a:ext>
            </a:extLst>
          </p:cNvPr>
          <p:cNvSpPr/>
          <p:nvPr/>
        </p:nvSpPr>
        <p:spPr>
          <a:xfrm>
            <a:off x="558800" y="3276600"/>
            <a:ext cx="4978400" cy="1498600"/>
          </a:xfrm>
          <a:prstGeom prst="roundRect">
            <a:avLst/>
          </a:prstGeom>
          <a:solidFill>
            <a:srgbClr val="1F3A5F"/>
          </a:solidFill>
          <a:ln w="16510">
            <a:solidFill>
              <a:srgbClr val="F2C1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5BE86C8-C6D9-A2E5-3464-CC4DF88EF26A}"/>
              </a:ext>
            </a:extLst>
          </p:cNvPr>
          <p:cNvSpPr txBox="1"/>
          <p:nvPr/>
        </p:nvSpPr>
        <p:spPr>
          <a:xfrm>
            <a:off x="787400" y="3454400"/>
            <a:ext cx="685800" cy="38100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000" b="1">
                <a:solidFill>
                  <a:srgbClr val="F2C14E"/>
                </a:solidFill>
                <a:latin typeface="Aptos" panose="020B0004020202020204" pitchFamily="34" charset="0"/>
              </a:rPr>
              <a:t>03</a:t>
            </a:r>
            <a:endParaRPr lang="zh-CN" altLang="en-US" sz="2000" b="1">
              <a:solidFill>
                <a:srgbClr val="F2C14E"/>
              </a:solidFill>
              <a:latin typeface="Aptos" panose="020B00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145B0E8-61E7-756A-0669-AA2296C71030}"/>
              </a:ext>
            </a:extLst>
          </p:cNvPr>
          <p:cNvSpPr txBox="1"/>
          <p:nvPr/>
        </p:nvSpPr>
        <p:spPr>
          <a:xfrm>
            <a:off x="1549400" y="3454400"/>
            <a:ext cx="3683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FFFFFF"/>
                </a:solidFill>
                <a:latin typeface="Aptos" panose="020B0004020202020204" pitchFamily="34" charset="0"/>
              </a:rPr>
              <a:t>Candidate assets</a:t>
            </a:r>
            <a:endParaRPr lang="zh-CN" altLang="en-US" sz="1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4689212-8192-5515-F989-985673C409E5}"/>
              </a:ext>
            </a:extLst>
          </p:cNvPr>
          <p:cNvSpPr txBox="1"/>
          <p:nvPr/>
        </p:nvSpPr>
        <p:spPr>
          <a:xfrm>
            <a:off x="1549400" y="3937000"/>
            <a:ext cx="3683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fr-FR" altLang="zh-CN" sz="1100">
                <a:solidFill>
                  <a:srgbClr val="E5EAF0"/>
                </a:solidFill>
                <a:latin typeface="Aptos" panose="020B0004020202020204" pitchFamily="34" charset="0"/>
              </a:rPr>
              <a:t>3,519 prompts · 8,184 images · target 1,500</a:t>
            </a:r>
            <a:endParaRPr lang="zh-CN" altLang="en-US" sz="1100">
              <a:solidFill>
                <a:srgbClr val="E5EAF0"/>
              </a:solidFill>
              <a:latin typeface="Aptos" panose="020B0004020202020204" pitchFamily="34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02CEBF7-55C2-3698-C37E-7E870EF6B2F9}"/>
              </a:ext>
            </a:extLst>
          </p:cNvPr>
          <p:cNvSpPr/>
          <p:nvPr/>
        </p:nvSpPr>
        <p:spPr>
          <a:xfrm>
            <a:off x="5969000" y="3276600"/>
            <a:ext cx="4978400" cy="1498600"/>
          </a:xfrm>
          <a:prstGeom prst="roundRect">
            <a:avLst/>
          </a:prstGeom>
          <a:solidFill>
            <a:srgbClr val="1F3A5F"/>
          </a:solidFill>
          <a:ln w="16510">
            <a:solidFill>
              <a:srgbClr val="F28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C7BA293-4FC2-1FD5-3DF3-3A4642B72359}"/>
              </a:ext>
            </a:extLst>
          </p:cNvPr>
          <p:cNvSpPr txBox="1"/>
          <p:nvPr/>
        </p:nvSpPr>
        <p:spPr>
          <a:xfrm>
            <a:off x="6197600" y="3454400"/>
            <a:ext cx="685800" cy="38100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2000" b="1">
                <a:solidFill>
                  <a:srgbClr val="F28C28"/>
                </a:solidFill>
                <a:latin typeface="Aptos" panose="020B0004020202020204" pitchFamily="34" charset="0"/>
              </a:rPr>
              <a:t>04</a:t>
            </a:r>
            <a:endParaRPr lang="zh-CN" altLang="en-US" sz="2000" b="1">
              <a:solidFill>
                <a:srgbClr val="F28C28"/>
              </a:solidFill>
              <a:latin typeface="Aptos" panose="020B00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8F969B6-C684-1F19-250B-99254CD1E105}"/>
              </a:ext>
            </a:extLst>
          </p:cNvPr>
          <p:cNvSpPr txBox="1"/>
          <p:nvPr/>
        </p:nvSpPr>
        <p:spPr>
          <a:xfrm>
            <a:off x="6959600" y="3454400"/>
            <a:ext cx="36830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500" b="1">
                <a:solidFill>
                  <a:srgbClr val="FFFFFF"/>
                </a:solidFill>
                <a:latin typeface="Aptos" panose="020B0004020202020204" pitchFamily="34" charset="0"/>
              </a:rPr>
              <a:t>Auditable quality workflow</a:t>
            </a:r>
            <a:endParaRPr lang="zh-CN" altLang="en-US" sz="1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B60E398-1A89-DBE8-0BFD-59A5982C1641}"/>
              </a:ext>
            </a:extLst>
          </p:cNvPr>
          <p:cNvSpPr txBox="1"/>
          <p:nvPr/>
        </p:nvSpPr>
        <p:spPr>
          <a:xfrm>
            <a:off x="6959600" y="3937000"/>
            <a:ext cx="3683000" cy="64633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r>
              <a:rPr lang="en-US" altLang="zh-CN" sz="1100">
                <a:solidFill>
                  <a:srgbClr val="E5EAF0"/>
                </a:solidFill>
                <a:latin typeface="Aptos" panose="020B0004020202020204" pitchFamily="34" charset="0"/>
              </a:rPr>
              <a:t>P0–P4 across schema, text, image, AR, distribution</a:t>
            </a:r>
            <a:endParaRPr lang="zh-CN" altLang="en-US" sz="1100">
              <a:solidFill>
                <a:srgbClr val="E5EAF0"/>
              </a:solidFill>
              <a:latin typeface="Aptos" panose="020B00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3A721BE-77CF-E50E-8ED9-8B2419F1AE60}"/>
              </a:ext>
            </a:extLst>
          </p:cNvPr>
          <p:cNvSpPr txBox="1"/>
          <p:nvPr/>
        </p:nvSpPr>
        <p:spPr>
          <a:xfrm>
            <a:off x="558800" y="5207000"/>
            <a:ext cx="1122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F2C14E"/>
                </a:solidFill>
                <a:latin typeface="Aptos" panose="020B0004020202020204" pitchFamily="34" charset="0"/>
              </a:rPr>
              <a:t>Next: close P0 → compare quality strategies → validate metrics → freeze release candidate</a:t>
            </a:r>
            <a:endParaRPr lang="zh-CN" altLang="en-US" sz="1200" b="1">
              <a:solidFill>
                <a:srgbClr val="F2C14E"/>
              </a:solidFill>
              <a:latin typeface="Aptos" panose="020B00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8A1230D-C10E-BE07-E8D7-D0F86FB875E1}"/>
              </a:ext>
            </a:extLst>
          </p:cNvPr>
          <p:cNvSpPr txBox="1"/>
          <p:nvPr/>
        </p:nvSpPr>
        <p:spPr>
          <a:xfrm>
            <a:off x="558800" y="5816600"/>
            <a:ext cx="11226800" cy="36933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Aptos" panose="020B0004020202020204" pitchFamily="34" charset="0"/>
              </a:rPr>
              <a:t>Thank You · Questions Welcome</a:t>
            </a:r>
            <a:endParaRPr lang="zh-CN" altLang="en-US" sz="2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284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1219</Words>
  <Application>Microsoft Office PowerPoint</Application>
  <PresentationFormat>自定义</PresentationFormat>
  <Paragraphs>278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</vt:lpstr>
      <vt:lpstr>等线 Light</vt:lpstr>
      <vt:lpstr>Aptos</vt:lpstr>
      <vt:lpstr>Arial</vt:lpstr>
      <vt:lpstr>Cambria Math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YN ZH</dc:creator>
  <cp:lastModifiedBy>YN ZH</cp:lastModifiedBy>
  <cp:revision>1</cp:revision>
  <dcterms:created xsi:type="dcterms:W3CDTF">2026-07-14T10:48:41Z</dcterms:created>
  <dcterms:modified xsi:type="dcterms:W3CDTF">2026-07-14T10:48:41Z</dcterms:modified>
</cp:coreProperties>
</file>